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Деревья</c:v>
                </c:pt>
              </c:strCache>
            </c:strRef>
          </c:tx>
          <c:spPr>
            <a:solidFill>
              <a:srgbClr val="2D6A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80" u="none">
                    <a:solidFill>
                      <a:srgbClr val="1228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Туран · западный</c:v>
                </c:pt>
                <c:pt idx="1">
                  <c:v>Республика · северный</c:v>
                </c:pt>
                <c:pt idx="2">
                  <c:v>Абылай хана · восточный</c:v>
                </c:pt>
                <c:pt idx="3">
                  <c:v>Улы Дала · восточный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260</c:v>
                </c:pt>
                <c:pt idx="1">
                  <c:v>260</c:v>
                </c:pt>
                <c:pt idx="2">
                  <c:v>260</c:v>
                </c:pt>
                <c:pt idx="3">
                  <c:v>220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80" u="none">
                  <a:solidFill>
                    <a:srgbClr val="1228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60" b="0" i="0" u="none" strike="noStrike">
                <a:solidFill>
                  <a:srgbClr val="283D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b"/>
        <c:majorGridlines>
          <c:spPr>
            <a:ln w="6350" cap="flat">
              <a:solidFill>
                <a:srgbClr val="CFDAC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526B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Саженцы и посадка</c:v>
                </c:pt>
              </c:strCache>
            </c:strRef>
          </c:tx>
          <c:spPr>
            <a:solidFill>
              <a:srgbClr val="2D6A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1-й год (29,8)</c:v>
                </c:pt>
                <c:pt idx="1">
                  <c:v>10 лет (67,6)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Уход и полив</c:v>
                </c:pt>
              </c:strCache>
            </c:strRef>
          </c:tx>
          <c:spPr>
            <a:solidFill>
              <a:srgbClr val="B98B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1-й год (29,8)</c:v>
                </c:pt>
                <c:pt idx="1">
                  <c:v>10 лет (67,6)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</c:v>
                </c:pt>
                <c:pt idx="1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Датчики и программа</c:v>
                </c:pt>
              </c:strCache>
            </c:strRef>
          </c:tx>
          <c:spPr>
            <a:solidFill>
              <a:srgbClr val="7B9B8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1-й год (29,8)</c:v>
                </c:pt>
                <c:pt idx="1">
                  <c:v>10 лет (67,6)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1.8</c:v>
                </c:pt>
                <c:pt idx="1">
                  <c:v>12.6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80" b="0" i="0" u="none" strike="noStrike">
                <a:solidFill>
                  <a:srgbClr val="12281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5"/>
          <c:min val="0"/>
        </c:scaling>
        <c:delete val="0"/>
        <c:axPos val="b"/>
        <c:majorGridlines>
          <c:spPr>
            <a:ln w="6350" cap="flat">
              <a:solidFill>
                <a:srgbClr val="CFDAC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283D3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PM2.5, мкг/м³</c:v>
                </c:pt>
              </c:strCache>
            </c:strRef>
          </c:tx>
          <c:spPr>
            <a:solidFill>
              <a:srgbClr val="2D6A4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60" u="none">
                    <a:solidFill>
                      <a:srgbClr val="12281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PM2.5: от текущего уровня</c:v>
                </c:pt>
                <c:pt idx="1">
                  <c:v>PM2.5: ML с поправкой</c:v>
                </c:pt>
                <c:pt idx="2">
                  <c:v>PM2.5: прямая ML-модель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1.9362</c:v>
                </c:pt>
                <c:pt idx="1">
                  <c:v>2.197</c:v>
                </c:pt>
                <c:pt idx="2">
                  <c:v>10.3596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60" u="none">
                  <a:solidFill>
                    <a:srgbClr val="12281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83D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.5"/>
          <c:min val="0"/>
        </c:scaling>
        <c:delete val="0"/>
        <c:axPos val="b"/>
        <c:majorGridlines>
          <c:spPr>
            <a:ln w="6350" cap="flat">
              <a:solidFill>
                <a:srgbClr val="CFDACA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ASTRA помогает подготовить предварительный план озеленения Астаны: выбрать участки, распределить деревья и оценить затраты. Веб-приложение уже доступно на трёх языках. Мы разделяем городской фон открытых моделей, собственные расчёты по участкам и будущие полевые измерения.</a:t>
            </a:r>
          </a:p>
          <a:p/>
          <a:p>
            <a:r>
              <a:t>Источники и проверка: https://astra-n2xd.onrender.com/ ; https://github.com/GL1NoMe5/A.S.T.R.A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 статистике за 2025 год предприятия Астаны выбросили 53,7 тысячи тонн загрязняющих веществ. Это масса выбросов, а не измерение PM2.5 на улице. Для плана посадок нужны также данные о жаре, свободном месте и стоимости. Наши предполагаемые пользователи — службы озеленения; интервью с ними ещё впереди.</a:t>
            </a:r>
          </a:p>
          <a:p/>
          <a:p>
            <a:r>
              <a:t>Источники и проверка: https://www.gov.kz/uploads/2025/12/11/3b295e70b17e67e6a31f8c302b258d83_original.11515953.pdf ; https://stat.gov.kz/ru/industries/environment/stat-eco/publications/346639/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Приложение получает городской фон Open-Meteo и CAMS, а при сбое погодного канала переключается на MET Norway. На карте 40 расчётных участков. По ним строится прогноз и выбираются места посадок. Вместимость, озеленённость и число жителей пока заданы для сценария, поэтому перед работами требуется обследование.</a:t>
            </a:r>
          </a:p>
          <a:p/>
          <a:p>
            <a:r>
              <a:t>Источники и проверка: https://open-meteo.com/en/docs/air-quality-api ; https://api.met.no/doc/Locationforecast/2.0/documentation ; app/services/simulator.py ; app/core/pilot_sites.json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В сохранённом примере тысяча вязов распределена по четырём участкам без остатка. На горизонте десяти лет модель даёт снижение PM2.5 примерно на 0,032 микрограмма на кубометр и поглощение 18,7 тонны CO₂ в год. При холодном погодном фоне охлаждение равно нулю. Эти значения — расчёт сценария, а не доказанный эффект посадок.</a:t>
            </a:r>
          </a:p>
          <a:p/>
          <a:p>
            <a:r>
              <a:t>Источники и проверка: example-run-1000-elm.json ; app/ml/optimizer.py ; расчёт 26.10.2026 00:36 UTC+5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Цены доступны для ручной замены. Для тысячи вязов первый год стоит по модели 29,8 миллиона тенге, а десять лет — 67,6 миллиона. План сохраняется на 30 дней: можно сравнить варианты, скачать исходные данные и напечатать отчёт. Это предварительная смета без инфляции и части инфраструктурных расходов.</a:t>
            </a:r>
          </a:p>
          <a:p/>
          <a:p>
            <a:r>
              <a:t>Источники и проверка: example-run-1000-elm.json ; app/ml/optimizer.py ; app/static/report/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На синтетических временных рядах простой прогноз PM2.5 оказался точнее ML-кандидата, поэтому он основной. Для ESI используется машинное обучение. В 36 сценариях распределение снижало пыль сильнее равномерного, но проигрывало по охлаждению в тёплых условиях. Реальные замеры ещё нужны. Программную логику проверяет 81 автотест.</a:t>
            </a:r>
          </a:p>
          <a:p/>
          <a:p>
            <a:r>
              <a:t>Источники и проверка: benchmarks/pm25/ ; benchmarks/greening/ ; VERIFICATION.md ; docs/verification/acceptance.json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Казгидромет предоставляет официальные наблюдения, а i-Tree — инструменты оценки деревьев. ASTRA объединяет карту Астаны, распределение посадок, сценарный эффект и смету в тенге. Это удобный черновик для специалиста. Мы не заменяем полевые обследования и не заявляем, что такого решения нет нигде в мире.</a:t>
            </a:r>
          </a:p>
          <a:p/>
          <a:p>
            <a:r>
              <a:t>Источники и проверка: https://www.itreetools.org/tools/i-tree-eco ; https://landscape.itreetools.org/ ; https://www.itreetools.org/all-tools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Смета посадок, бюджет пилота и годовая поддержка — разные расчёты. Для шестинедельного пилота предварительно нужно от 1,13 до 2,71 миллиона тенге. Часть расходов пересекается, поэтому суммы нельзя просто складывать. Подтверждённых заказчиков и финансирования пока нет; демонстрация размещена на бесплатных облачных тарифах.</a:t>
            </a:r>
          </a:p>
          <a:p/>
          <a:p>
            <a:r>
              <a:t>Источники и проверка: docs/PROJECT_EVIDENCE.md ; docs/HOSTING.md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Следующий шаг — согласовать четыре участка: два для наблюдения за посадками и два контрольных. За шесть недель проверим данные и удобство работы. За сезон начнём оценивать приживаемость и рост кроны. Эффект взрослых деревьев потребует многолетнего наблюдения. Сейчас готовы приложение, расчёты и инструменты отчётности.</a:t>
            </a:r>
          </a:p>
          <a:p/>
          <a:p>
            <a:r>
              <a:t>Источники и проверка: docs/PROJECT_EVIDENCE.md ; VERIFICATION.md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Слайд источников не требует отдельного рассказа. Полный реестр ссылок, формулы и точный JSON приведены рядом с новой версией. Роль ИИ раскрыта явно. Перед подачей команда должна заполнить титульный слайд и проверить материалы организаторов.</a:t>
            </a:r>
          </a:p>
          <a:p/>
          <a:p>
            <a:r>
              <a:t>Источники и проверка: sources.md ; example-run-1000-elm.json ; app/ml/optimizer.py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www.gov.kz/uploads/2025/12/11/3b295e70b17e67e6a31f8c302b258d83_original.11515953.pdf" TargetMode="External"/><Relationship Id="rId4" Type="http://schemas.openxmlformats.org/officeDocument/2006/relationships/hyperlink" Target="https://stat.gov.kz/ru/industries/environment/stat-eco/publications/346639/" TargetMode="External"/><Relationship Id="rId5" Type="http://schemas.openxmlformats.org/officeDocument/2006/relationships/hyperlink" Target="https://open-meteo.com/en/docs/air-quality-api" TargetMode="External"/><Relationship Id="rId6" Type="http://schemas.openxmlformats.org/officeDocument/2006/relationships/hyperlink" Target="https://api.met.no/doc/Locationforecast/2.0/documentation" TargetMode="External"/><Relationship Id="rId7" Type="http://schemas.openxmlformats.org/officeDocument/2006/relationships/hyperlink" Target="https://www.openstreetmap.org/copyright" TargetMode="External"/><Relationship Id="rId8" Type="http://schemas.openxmlformats.org/officeDocument/2006/relationships/hyperlink" Target="https://www.epa.gov/heatislands/using-trees-and-vegetation-reduce-heat-islands" TargetMode="External"/><Relationship Id="rId9" Type="http://schemas.openxmlformats.org/officeDocument/2006/relationships/hyperlink" Target="https://github.com/GL1NoMe5/A.S.T.R.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36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B98B4D"/>
          </a:solidFill>
          <a:ln w="12700">
            <a:solidFill>
              <a:srgbClr val="B98B4D"/>
            </a:solidFill>
            <a:prstDash val="solid"/>
          </a:ln>
        </p:spPr>
        <p:txBody>
          <a:bodyPr/>
          <a:p/>
        </p:txBody>
      </p:sp>
      <p:sp>
        <p:nvSpPr>
          <p:cNvPr id="4" name="Shape 1"/>
          <p:cNvSpPr/>
          <p:nvPr/>
        </p:nvSpPr>
        <p:spPr>
          <a:xfrm>
            <a:off x="5897880" y="0"/>
            <a:ext cx="6293815" cy="6858000"/>
          </a:xfrm>
          <a:prstGeom prst="rect">
            <a:avLst/>
          </a:prstGeom>
          <a:solidFill>
            <a:srgbClr val="1C4334"/>
          </a:solidFill>
          <a:ln w="12700">
            <a:solidFill>
              <a:srgbClr val="1C4334"/>
            </a:solidFill>
            <a:prstDash val="solid"/>
          </a:ln>
        </p:spPr>
        <p:txBody>
          <a:bodyPr/>
          <a:p/>
        </p:txBody>
      </p:sp>
      <p:sp>
        <p:nvSpPr>
          <p:cNvPr id="5" name="Shape 2"/>
          <p:cNvSpPr/>
          <p:nvPr/>
        </p:nvSpPr>
        <p:spPr>
          <a:xfrm>
            <a:off x="502920" y="786384"/>
            <a:ext cx="11201400" cy="0"/>
          </a:xfrm>
          <a:prstGeom prst="line">
            <a:avLst/>
          </a:prstGeom>
          <a:noFill/>
          <a:ln w="7620">
            <a:solidFill>
              <a:srgbClr val="2A5543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02920" y="6181344"/>
            <a:ext cx="11201400" cy="0"/>
          </a:xfrm>
          <a:prstGeom prst="line">
            <a:avLst/>
          </a:prstGeom>
          <a:noFill/>
          <a:ln w="7620">
            <a:solidFill>
              <a:srgbClr val="2A5543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02920" y="3840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spc="130" kern="0" dirty="0">
                <a:solidFill>
                  <a:srgbClr val="B98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GREENHACK KAZAKHSTAN 2026  ·  ПРЕДВАРИТЕЛЬНЫЙ ОТБОР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458200" y="38404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b="1" spc="110" kern="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51°10′ N · 71°27′ E · АСТАНА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02920" y="1024128"/>
            <a:ext cx="5166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800" b="1" spc="250" kern="0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ASTRA</a:t>
            </a:r>
            <a:endParaRPr lang="en-US" sz="4800" dirty="0"/>
          </a:p>
        </p:txBody>
      </p:sp>
      <p:sp>
        <p:nvSpPr>
          <p:cNvPr id="10" name="Text 7"/>
          <p:cNvSpPr/>
          <p:nvPr/>
        </p:nvSpPr>
        <p:spPr>
          <a:xfrm>
            <a:off x="502920" y="1865376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Air &amp; Surface Temperature Real-time Analytics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02920" y="2267712"/>
            <a:ext cx="2011680" cy="0"/>
          </a:xfrm>
          <a:prstGeom prst="line">
            <a:avLst/>
          </a:prstGeom>
          <a:noFill/>
          <a:ln w="22860">
            <a:solidFill>
              <a:srgbClr val="B98B4D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02920" y="2432304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65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Помогает выбрать приоритетные места для посадки деревьев, оценить ожидаемый эффект и сразу посчитать смету в тенге.</a:t>
            </a:r>
            <a:endParaRPr lang="en-US" sz="1650" dirty="0"/>
          </a:p>
        </p:txBody>
      </p:sp>
      <p:sp>
        <p:nvSpPr>
          <p:cNvPr id="13" name="Shape 10"/>
          <p:cNvSpPr/>
          <p:nvPr/>
        </p:nvSpPr>
        <p:spPr>
          <a:xfrm>
            <a:off x="502920" y="3858768"/>
            <a:ext cx="5120640" cy="585216"/>
          </a:xfrm>
          <a:prstGeom prst="roundRect">
            <a:avLst>
              <a:gd name="adj" fmla="val 6250"/>
            </a:avLst>
          </a:prstGeom>
          <a:solidFill>
            <a:srgbClr val="1D4738"/>
          </a:solidFill>
          <a:ln w="9525">
            <a:solidFill>
              <a:srgbClr val="336552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21792" y="3922776"/>
            <a:ext cx="4882896" cy="4572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B98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Направление конкурса: </a:t>
            </a:r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Искусственный интеллект и инженерные решения для городской среды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02920" y="4553712"/>
            <a:ext cx="5120640" cy="585216"/>
          </a:xfrm>
          <a:prstGeom prst="roundRect">
            <a:avLst>
              <a:gd name="adj" fmla="val 6250"/>
            </a:avLst>
          </a:prstGeom>
          <a:solidFill>
            <a:srgbClr val="1D4738"/>
          </a:solidFill>
          <a:ln w="9525">
            <a:solidFill>
              <a:srgbClr val="336552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21792" y="4617720"/>
            <a:ext cx="4882896" cy="4572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B98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Что уже работает: </a:t>
            </a:r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Веб-приложение на трёх языках (RU / ҚАЗ / EN) с картой 40 участков Астаны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02920" y="5248656"/>
            <a:ext cx="5120640" cy="585216"/>
          </a:xfrm>
          <a:prstGeom prst="roundRect">
            <a:avLst>
              <a:gd name="adj" fmla="val 6250"/>
            </a:avLst>
          </a:prstGeom>
          <a:solidFill>
            <a:srgbClr val="1D4738"/>
          </a:solidFill>
          <a:ln w="9525">
            <a:solidFill>
              <a:srgbClr val="336552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21792" y="5312664"/>
            <a:ext cx="4882896" cy="4572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B98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Честный подход: </a:t>
            </a:r>
            <a:pPr algn="l" indent="0" marL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Отделяем общие данные о воздухе, расчёт модели и будущие уличные замеры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217920" y="1078992"/>
            <a:ext cx="5559552" cy="3803904"/>
          </a:xfrm>
          <a:prstGeom prst="roundRect">
            <a:avLst>
              <a:gd name="adj" fmla="val 1442"/>
            </a:avLst>
          </a:prstGeom>
          <a:solidFill>
            <a:srgbClr val="265442"/>
          </a:solidFill>
          <a:ln w="9525">
            <a:solidFill>
              <a:srgbClr val="467862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6108192" y="1033272"/>
            <a:ext cx="5596128" cy="3767328"/>
          </a:xfrm>
          <a:prstGeom prst="roundRect">
            <a:avLst>
              <a:gd name="adj" fmla="val 1214"/>
            </a:avLst>
          </a:prstGeom>
          <a:solidFill>
            <a:srgbClr val="F5F5ED"/>
          </a:solidFill>
          <a:ln w="11430">
            <a:solidFill>
              <a:srgbClr val="DEC49E"/>
            </a:solidFill>
            <a:prstDash val="solid"/>
          </a:ln>
        </p:spPr>
        <p:txBody>
          <a:bodyPr/>
          <a:p/>
        </p:txBody>
      </p:sp>
      <p:pic>
        <p:nvPicPr>
          <p:cNvPr id="21" name="Image 0" descr="Главный экран веб-приложения ASTRA: панорама парка Астаны и сводные показатели городской сред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63056" y="1088136"/>
            <a:ext cx="5486400" cy="36576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6108192" y="4974336"/>
            <a:ext cx="5596128" cy="969264"/>
          </a:xfrm>
          <a:prstGeom prst="roundRect">
            <a:avLst>
              <a:gd name="adj" fmla="val 3774"/>
            </a:avLst>
          </a:prstGeom>
          <a:solidFill>
            <a:srgbClr val="16382C"/>
          </a:solidFill>
          <a:ln w="9525">
            <a:solidFill>
              <a:srgbClr val="336552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6254496" y="5056632"/>
            <a:ext cx="5303520" cy="80467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Рабочее приложение: astra-n2xd.onrender.com</a:t>
            </a:r>
            <a:endParaRPr lang="en-US" sz="1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Воздух: Open-Meteo / CAMS. Погода: Open-Meteo с резервом MET Norway. Значения по 40 участкам — расчёт модели.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502920" y="6272784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Данные команды для подачи (заполняется участниками): [Название команды · ФИО участников · Организация образования / город]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829800" y="6272784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B98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219456"/>
            <a:ext cx="475488" cy="219456"/>
          </a:xfrm>
          <a:prstGeom prst="rect">
            <a:avLst/>
          </a:prstGeom>
          <a:solidFill>
            <a:srgbClr val="E7EFE0"/>
          </a:solidFill>
          <a:ln w="9525">
            <a:solidFill>
              <a:srgbClr val="BDCCB4"/>
            </a:solidFill>
          </a:ln>
        </p:spPr>
        <p:txBody>
          <a:bodyPr wrap="square" lIns="12700" tIns="25400" rIns="25400" bIns="1270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24128" y="219456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spc="110" kern="0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ЭКОЛОГИЧЕСКАЯ ПРОБЛЕМА И КОМУ НУЖЕН ПРОДУКТ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457200" y="484632"/>
            <a:ext cx="11274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5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Пыль и летняя жара распределены неравномерно, а бюджет посадок ограничен</a:t>
            </a:r>
            <a:endParaRPr lang="en-US" sz="2150" dirty="0"/>
          </a:p>
        </p:txBody>
      </p:sp>
      <p:sp>
        <p:nvSpPr>
          <p:cNvPr id="7" name="Shape 4"/>
          <p:cNvSpPr/>
          <p:nvPr/>
        </p:nvSpPr>
        <p:spPr>
          <a:xfrm>
            <a:off x="457200" y="1143000"/>
            <a:ext cx="11274552" cy="0"/>
          </a:xfrm>
          <a:prstGeom prst="line">
            <a:avLst/>
          </a:prstGeom>
          <a:noFill/>
          <a:ln w="1079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CFDAC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9509760" y="6428232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4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ASTRA · 02 / 10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1298448"/>
            <a:ext cx="5779008" cy="987552"/>
          </a:xfrm>
          <a:prstGeom prst="roundRect">
            <a:avLst>
              <a:gd name="adj" fmla="val 3704"/>
            </a:avLst>
          </a:prstGeom>
          <a:solidFill>
            <a:srgbClr val="E7EFE0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57200" y="1298448"/>
            <a:ext cx="82296" cy="987552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0080" y="1362456"/>
            <a:ext cx="5486400" cy="85953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 что влияет озеленение в городе
</a:t>
            </a:r>
            <a:pPr algn="l"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Мелкая пыль и дым (PM2.5): мельчайшие частицы до 2,5 микрометра, которые проникают глубоко в лёгкие.</a:t>
            </a:r>
            <a:endParaRPr lang="en-US" sz="1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3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Летний перегрев улиц: открытый асфальт вдоль широких дорог сильно нагревается и усиливает духоту.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250545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457200" y="3163824"/>
            <a:ext cx="1417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постов в Астане</a:t>
            </a:r>
            <a:endParaRPr lang="en-US" sz="98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 публикации 2025 г.</a:t>
            </a:r>
            <a:endParaRPr lang="en-US" sz="980" dirty="0"/>
          </a:p>
        </p:txBody>
      </p:sp>
      <p:sp>
        <p:nvSpPr>
          <p:cNvPr id="15" name="Text 12"/>
          <p:cNvSpPr/>
          <p:nvPr/>
        </p:nvSpPr>
        <p:spPr>
          <a:xfrm>
            <a:off x="1965960" y="2505456"/>
            <a:ext cx="4270248" cy="15361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Посты наблюдают за воздухом, но не составляют план посадок</a:t>
            </a:r>
            <a:endParaRPr lang="en-US" sz="11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 материалах Казгидромета за 2025 год указано 10 постов в Астане. Наблюдения нужны для проверки моделей. Для плана озеленения дополнительно требуется оценить конкретные участки, свободное место и стоимость работ.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4187952"/>
            <a:ext cx="5779008" cy="0"/>
          </a:xfrm>
          <a:prstGeom prst="line">
            <a:avLst/>
          </a:prstGeom>
          <a:noFill/>
          <a:ln w="10160">
            <a:solidFill>
              <a:srgbClr val="CFDACA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457200" y="4352544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9369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53,7</a:t>
            </a:r>
            <a:endParaRPr lang="en-US" sz="3400" dirty="0"/>
          </a:p>
        </p:txBody>
      </p:sp>
      <p:sp>
        <p:nvSpPr>
          <p:cNvPr id="18" name="Text 15"/>
          <p:cNvSpPr/>
          <p:nvPr/>
        </p:nvSpPr>
        <p:spPr>
          <a:xfrm>
            <a:off x="457200" y="4992624"/>
            <a:ext cx="1481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9369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тыс. тонн в год</a:t>
            </a:r>
            <a:endParaRPr lang="en-US" sz="98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9369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предприятия (2025)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1965960" y="4352544"/>
            <a:ext cx="4270248" cy="16642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Выбросы предприятий — отдельный показатель нагрузки</a:t>
            </a:r>
            <a:endParaRPr lang="en-US" sz="11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 данным Бюро нацстатистики, в 2025 году стационарные источники Астаны выбросили 53,7 тыс. тонн загрязняющих веществ. Это годовая масса выбросов, а не концентрация PM2.5 на улице. Местные условия зависят также от транспорта, застройки и погоды.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92240" y="1298448"/>
            <a:ext cx="5239512" cy="4901184"/>
          </a:xfrm>
          <a:prstGeom prst="roundRect">
            <a:avLst>
              <a:gd name="adj" fmla="val 933"/>
            </a:avLst>
          </a:prstGeom>
          <a:solidFill>
            <a:srgbClr val="15362A"/>
          </a:solidFill>
          <a:ln w="9525">
            <a:solidFill>
              <a:srgbClr val="2D6A4F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748272" y="1517904"/>
            <a:ext cx="470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00" b="1" spc="120" kern="0" dirty="0">
                <a:solidFill>
                  <a:srgbClr val="B98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КОМУ ПОМОГАЕТ ASTRA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748272" y="1792224"/>
            <a:ext cx="4709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Будущие пользователи: службы озеленения и проектировщики. Потребность предстоит проверить на интервью.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748272" y="2487168"/>
            <a:ext cx="4709160" cy="0"/>
          </a:xfrm>
          <a:prstGeom prst="line">
            <a:avLst/>
          </a:prstGeom>
          <a:noFill/>
          <a:ln w="10160">
            <a:solidFill>
              <a:srgbClr val="2E5C49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6748272" y="2633472"/>
            <a:ext cx="384048" cy="329184"/>
          </a:xfrm>
          <a:prstGeom prst="rect">
            <a:avLst/>
          </a:prstGeom>
          <a:solidFill>
            <a:srgbClr val="B98B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36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242048" y="2606040"/>
            <a:ext cx="4242816" cy="76809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Где сажать деревья в первую очередь?
</a:t>
            </a:r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Быстро сравнить загруженные проспекты, жилые кварталы и парки по запылённости и летнему нагреву.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748272" y="3493008"/>
            <a:ext cx="384048" cy="329184"/>
          </a:xfrm>
          <a:prstGeom prst="rect">
            <a:avLst/>
          </a:prstGeom>
          <a:solidFill>
            <a:srgbClr val="B98B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36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42048" y="3465576"/>
            <a:ext cx="4242816" cy="76809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Сколько саженцев закладывать в план?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Учесть сценарный лимит участка. Фактические места, почву и подземные сети затем проверяет специалист на улице.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748272" y="4352544"/>
            <a:ext cx="384048" cy="329184"/>
          </a:xfrm>
          <a:prstGeom prst="rect">
            <a:avLst/>
          </a:prstGeom>
          <a:solidFill>
            <a:srgbClr val="B98B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36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242048" y="4325112"/>
            <a:ext cx="4242816" cy="76809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Какую породу выбрать и на какой срок?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Сравнить вяз, сосну и тополь на горизонте 1–30 лет. В модели взрослая крона формируется к 10-му году.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748272" y="5212080"/>
            <a:ext cx="384048" cy="329184"/>
          </a:xfrm>
          <a:prstGeom prst="rect">
            <a:avLst/>
          </a:prstGeom>
          <a:solidFill>
            <a:srgbClr val="B98B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536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42048" y="5184648"/>
            <a:ext cx="4242816" cy="76809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08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Как обосновать расходы на согласовании?
</a:t>
            </a:r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Сразу показать стоимость посадки в первый год, затраты на уход и выгрузить готовый отчёт.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219456"/>
            <a:ext cx="475488" cy="219456"/>
          </a:xfrm>
          <a:prstGeom prst="rect">
            <a:avLst/>
          </a:prstGeom>
          <a:solidFill>
            <a:srgbClr val="E7EFE0"/>
          </a:solidFill>
          <a:ln w="9525">
            <a:solidFill>
              <a:srgbClr val="BDCCB4"/>
            </a:solidFill>
          </a:ln>
        </p:spPr>
        <p:txBody>
          <a:bodyPr wrap="square" lIns="12700" tIns="25400" rIns="25400" bIns="1270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24128" y="219456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spc="110" kern="0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КАК РАБОТАЕТ ПРИЛОЖЕНИЕ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457200" y="484632"/>
            <a:ext cx="11274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5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Пять шагов: от погодного фона до плана посадок и сметы</a:t>
            </a:r>
            <a:endParaRPr lang="en-US" sz="2150" dirty="0"/>
          </a:p>
        </p:txBody>
      </p:sp>
      <p:sp>
        <p:nvSpPr>
          <p:cNvPr id="7" name="Shape 4"/>
          <p:cNvSpPr/>
          <p:nvPr/>
        </p:nvSpPr>
        <p:spPr>
          <a:xfrm>
            <a:off x="457200" y="1143000"/>
            <a:ext cx="11274552" cy="0"/>
          </a:xfrm>
          <a:prstGeom prst="line">
            <a:avLst/>
          </a:prstGeom>
          <a:noFill/>
          <a:ln w="1079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CFDAC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9509760" y="6428232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4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ASTRA · 03 / 10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1261872"/>
            <a:ext cx="2121408" cy="914400"/>
          </a:xfrm>
          <a:prstGeom prst="roundRect">
            <a:avLst>
              <a:gd name="adj" fmla="val 4000"/>
            </a:avLst>
          </a:prstGeom>
          <a:solidFill>
            <a:srgbClr val="FBFBF7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548640" y="1316736"/>
            <a:ext cx="1938528" cy="80467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ШАГ 1 · ПОГОДА И ФОН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2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Open-Meteo / CAMS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Резерв погоды: MET Norway; опрос раз в 5 мин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587752" y="1572768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9369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2743200" y="1261872"/>
            <a:ext cx="2121408" cy="914400"/>
          </a:xfrm>
          <a:prstGeom prst="roundRect">
            <a:avLst>
              <a:gd name="adj" fmla="val 4000"/>
            </a:avLst>
          </a:prstGeom>
          <a:solidFill>
            <a:srgbClr val="FBFBF7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2834640" y="1316736"/>
            <a:ext cx="1938528" cy="80467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ШАГ 2 · КАРТА 40 ЗОН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12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Расчёт по участкам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групп территорий · сценарные трафик и зелень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873752" y="1572768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9369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0" y="1261872"/>
            <a:ext cx="2121408" cy="914400"/>
          </a:xfrm>
          <a:prstGeom prst="roundRect">
            <a:avLst>
              <a:gd name="adj" fmla="val 4000"/>
            </a:avLst>
          </a:prstGeom>
          <a:solidFill>
            <a:srgbClr val="FBFBF7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5120640" y="1316736"/>
            <a:ext cx="1938528" cy="80467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ШАГ 3 · ПРОГНОЗ +3 Ч
</a:t>
            </a:r>
            <a:pPr algn="l" indent="0" marL="0">
              <a:lnSpc>
                <a:spcPct val="105000"/>
              </a:lnSpc>
              <a:buNone/>
            </a:pPr>
            <a:r>
              <a:rPr lang="en-US" sz="112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Воздух и нагрузка
</a:t>
            </a:r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Оценка пыли PM2.5 и индекса общей нагрузки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159752" y="1572768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9369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7315200" y="1261872"/>
            <a:ext cx="2121408" cy="914400"/>
          </a:xfrm>
          <a:prstGeom prst="roundRect">
            <a:avLst>
              <a:gd name="adj" fmla="val 4000"/>
            </a:avLst>
          </a:prstGeom>
          <a:solidFill>
            <a:srgbClr val="FBFBF7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7406640" y="1316736"/>
            <a:ext cx="1938528" cy="80467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ШАГ 4 · ОТБОР УЛИЦ
</a:t>
            </a:r>
            <a:pPr algn="l" indent="0" marL="0">
              <a:lnSpc>
                <a:spcPct val="105000"/>
              </a:lnSpc>
              <a:buNone/>
            </a:pPr>
            <a:r>
              <a:rPr lang="en-US" sz="112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Очерёдность и лимит
</a:t>
            </a:r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Пыль, жара выше +25 °C и число посадочных мест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9445752" y="1572768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9369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9601200" y="1261872"/>
            <a:ext cx="2121408" cy="914400"/>
          </a:xfrm>
          <a:prstGeom prst="roundRect">
            <a:avLst>
              <a:gd name="adj" fmla="val 4000"/>
            </a:avLst>
          </a:prstGeom>
          <a:solidFill>
            <a:srgbClr val="15362A"/>
          </a:solidFill>
          <a:ln w="9525">
            <a:solidFill>
              <a:srgbClr val="15362A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9692640" y="1316736"/>
            <a:ext cx="1938528" cy="80467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B98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ШАГ 5 · ГОТОВЫЙ ПЛАН
</a:t>
            </a:r>
            <a:pPr algn="l" indent="0" marL="0">
              <a:lnSpc>
                <a:spcPct val="105000"/>
              </a:lnSpc>
              <a:buNone/>
            </a:pPr>
            <a:r>
              <a:rPr lang="en-US" sz="112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Порода и смета в ₸
</a:t>
            </a:r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Хранение 30 дней, сравнение и печатный PDF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84632" y="2304288"/>
            <a:ext cx="5843016" cy="3931920"/>
          </a:xfrm>
          <a:prstGeom prst="roundRect">
            <a:avLst>
              <a:gd name="adj" fmla="val 1163"/>
            </a:avLst>
          </a:prstGeom>
          <a:solidFill>
            <a:srgbClr val="FFFFFF"/>
          </a:solidFill>
          <a:ln w="11430">
            <a:solidFill>
              <a:srgbClr val="BDCCB4"/>
            </a:solidFill>
            <a:prstDash val="solid"/>
          </a:ln>
        </p:spPr>
        <p:txBody>
          <a:bodyPr/>
          <a:p/>
        </p:txBody>
      </p:sp>
      <p:pic>
        <p:nvPicPr>
          <p:cNvPr id="25" name="Image 0" descr="Карта 40 участков Астаны на подложке OpenStreetMap с открытой карточкой проспекта Республики и прогнозом через 3 час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2359152"/>
            <a:ext cx="5733288" cy="3822192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6537960" y="2304288"/>
            <a:ext cx="5193792" cy="2048256"/>
          </a:xfrm>
          <a:prstGeom prst="roundRect">
            <a:avLst>
              <a:gd name="adj" fmla="val 1786"/>
            </a:avLst>
          </a:prstGeom>
          <a:solidFill>
            <a:srgbClr val="F5EBDC"/>
          </a:solidFill>
          <a:ln w="9525">
            <a:solidFill>
              <a:srgbClr val="DEC49E"/>
            </a:solidFill>
            <a:prstDash val="solid"/>
          </a:ln>
        </p:spPr>
        <p:txBody>
          <a:bodyPr/>
          <a:p/>
        </p:txBody>
      </p:sp>
      <p:sp>
        <p:nvSpPr>
          <p:cNvPr id="27" name="Shape 23"/>
          <p:cNvSpPr/>
          <p:nvPr/>
        </p:nvSpPr>
        <p:spPr>
          <a:xfrm>
            <a:off x="6537960" y="2304288"/>
            <a:ext cx="82296" cy="2048256"/>
          </a:xfrm>
          <a:prstGeom prst="rect">
            <a:avLst/>
          </a:prstGeom>
          <a:solidFill>
            <a:srgbClr val="936930"/>
          </a:solidFill>
          <a:ln w="12700">
            <a:solidFill>
              <a:srgbClr val="936930"/>
            </a:solidFill>
            <a:prstDash val="solid"/>
          </a:ln>
        </p:spPr>
        <p:txBody>
          <a:bodyPr/>
          <a:p/>
        </p:txBody>
      </p:sp>
      <p:sp>
        <p:nvSpPr>
          <p:cNvPr id="28" name="Text 24"/>
          <p:cNvSpPr/>
          <p:nvPr/>
        </p:nvSpPr>
        <p:spPr>
          <a:xfrm>
            <a:off x="6720840" y="2377440"/>
            <a:ext cx="4892040" cy="190195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Откуда берутся данные на карте</a:t>
            </a:r>
            <a:endParaRPr lang="en-US" sz="1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20" b="1" dirty="0">
                <a:solidFill>
                  <a:srgbClr val="9369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Воздух — модель Open-Meteo / CAMS с сеткой около 45 км; погода — Open-Meteo или MET Norway. При сбое используется кэш либо явно отмеченный резервный фон.</a:t>
            </a:r>
            <a:endParaRPr lang="en-US" sz="1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2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На карте 40 расчётных участков у реальных улиц. Это не физические датчики. Вместимость 180–650 деревьев на участок — допущение, которое требует обследования.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6537960" y="4480560"/>
            <a:ext cx="5193792" cy="1755648"/>
          </a:xfrm>
          <a:prstGeom prst="roundRect">
            <a:avLst>
              <a:gd name="adj" fmla="val 2083"/>
            </a:avLst>
          </a:prstGeom>
          <a:solidFill>
            <a:srgbClr val="EFF4EA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30" name="Text 26"/>
          <p:cNvSpPr/>
          <p:nvPr/>
        </p:nvSpPr>
        <p:spPr>
          <a:xfrm>
            <a:off x="6693408" y="4553712"/>
            <a:ext cx="4901184" cy="160934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8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Как понимать показатели</a:t>
            </a:r>
            <a:endParaRPr lang="en-US" sz="1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10" b="1" dirty="0">
                <a:solidFill>
                  <a:srgbClr val="1C4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ESI, 0–100: собственный индекс нагрузки — пыль PM2.5 (50%), NO₂ (20%) и нагрев поверхности (30%). Это сценарный показатель, а не медицинский норматив.</a:t>
            </a:r>
            <a:endParaRPr lang="en-US" sz="1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1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Озеленённость NDVI, трафик и число жителей по участкам заданы для сценария. Они не получены из локальных датчиков или свежих спутниковых измерений.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219456"/>
            <a:ext cx="475488" cy="219456"/>
          </a:xfrm>
          <a:prstGeom prst="rect">
            <a:avLst/>
          </a:prstGeom>
          <a:solidFill>
            <a:srgbClr val="E7EFE0"/>
          </a:solidFill>
          <a:ln w="9525">
            <a:solidFill>
              <a:srgbClr val="BDCCB4"/>
            </a:solidFill>
          </a:ln>
        </p:spPr>
        <p:txBody>
          <a:bodyPr wrap="square" lIns="12700" tIns="25400" rIns="25400" bIns="1270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24128" y="219456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spc="110" kern="0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СЦЕНАРНЫЙ ПРИМЕР ИЗ РАБОТАЮЩЕГО ПРИЛОЖЕНИЯ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457200" y="484632"/>
            <a:ext cx="11274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5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Пример расчёта: 1 000 вязов распределены по 4 проспектам без остатка</a:t>
            </a:r>
            <a:endParaRPr lang="en-US" sz="2150" dirty="0"/>
          </a:p>
        </p:txBody>
      </p:sp>
      <p:sp>
        <p:nvSpPr>
          <p:cNvPr id="7" name="Shape 4"/>
          <p:cNvSpPr/>
          <p:nvPr/>
        </p:nvSpPr>
        <p:spPr>
          <a:xfrm>
            <a:off x="457200" y="1143000"/>
            <a:ext cx="11274552" cy="0"/>
          </a:xfrm>
          <a:prstGeom prst="line">
            <a:avLst/>
          </a:prstGeom>
          <a:noFill/>
          <a:ln w="1079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CFDAC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9509760" y="6428232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4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ASTRA · 04 / 10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1243584"/>
            <a:ext cx="11274552" cy="402336"/>
          </a:xfrm>
          <a:prstGeom prst="roundRect">
            <a:avLst>
              <a:gd name="adj" fmla="val 9091"/>
            </a:avLst>
          </a:prstGeom>
          <a:solidFill>
            <a:srgbClr val="15362A"/>
          </a:solidFill>
          <a:ln w="12700">
            <a:solidFill>
              <a:srgbClr val="15362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03504" y="1271016"/>
            <a:ext cx="10972800" cy="34747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70" b="1" dirty="0">
                <a:solidFill>
                  <a:srgbClr val="B98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ПРИМЕР 26.10.2026:  1 000 вязов · 10 лет · приживаемость 85% · крона 25 м² · погода +0,4 °C · городской фон PM2.5: 12,1 мкг/м³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457200" y="1773936"/>
            <a:ext cx="5349240" cy="3794760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11430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/>
          <p:nvPr/>
        </p:nvSpPr>
        <p:spPr>
          <a:xfrm>
            <a:off x="457200" y="5632704"/>
            <a:ext cx="5349240" cy="38404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60" i="1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Данные сохранённого плана от 26.10.2026, 00:36 (UTC+5). Точный JSON приложен к новой версии презентации.</a:t>
            </a:r>
            <a:endParaRPr lang="en-US" sz="960" dirty="0"/>
          </a:p>
        </p:txBody>
      </p:sp>
      <p:sp>
        <p:nvSpPr>
          <p:cNvPr id="15" name="Shape 11"/>
          <p:cNvSpPr/>
          <p:nvPr/>
        </p:nvSpPr>
        <p:spPr>
          <a:xfrm>
            <a:off x="5989320" y="1773936"/>
            <a:ext cx="5742432" cy="2176272"/>
          </a:xfrm>
          <a:prstGeom prst="roundRect">
            <a:avLst>
              <a:gd name="adj" fmla="val 1681"/>
            </a:avLst>
          </a:prstGeom>
          <a:solidFill>
            <a:srgbClr val="FBFBF7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6144768" y="1847088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8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Куда программа направила 1 000 деревьев (лимит 260 мест на участок)</a:t>
            </a:r>
            <a:endParaRPr lang="en-US" sz="108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6080760" y="2103120"/>
          <a:ext cx="5532120" cy="17739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Shape 13"/>
          <p:cNvSpPr/>
          <p:nvPr/>
        </p:nvSpPr>
        <p:spPr>
          <a:xfrm>
            <a:off x="5989320" y="4059936"/>
            <a:ext cx="2825496" cy="1014984"/>
          </a:xfrm>
          <a:prstGeom prst="roundRect">
            <a:avLst>
              <a:gd name="adj" fmla="val 3604"/>
            </a:avLst>
          </a:prstGeom>
          <a:solidFill>
            <a:srgbClr val="EFF4EA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/>
          <p:nvPr/>
        </p:nvSpPr>
        <p:spPr>
          <a:xfrm>
            <a:off x="6080760" y="4105656"/>
            <a:ext cx="2642616" cy="92354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2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−0,032 мкг/м³ PM2.5</a:t>
            </a:r>
            <a:endParaRPr lang="en-US" sz="11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96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14,152 → 14,120 мкг/м³ (−0,22%)</a:t>
            </a:r>
            <a:endParaRPr lang="en-US" sz="11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Среднее по выбранным участкам. Чувствительность: 0,016–0,047; не доверительный интервал.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06256" y="4059936"/>
            <a:ext cx="2825496" cy="1014984"/>
          </a:xfrm>
          <a:prstGeom prst="roundRect">
            <a:avLst>
              <a:gd name="adj" fmla="val 3604"/>
            </a:avLst>
          </a:prstGeom>
          <a:solidFill>
            <a:srgbClr val="EFF4EA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8997696" y="4105656"/>
            <a:ext cx="2642616" cy="92354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2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18,7 т CO₂ в год</a:t>
            </a:r>
            <a:endParaRPr lang="en-US" sz="11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96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 10-му году · 850 живых вязов</a:t>
            </a:r>
            <a:endParaRPr lang="en-US" sz="11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Сценарий: крона 21 250 м² и 22 кг CO₂ на дерево в год. Это не полевой результат.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5989320" y="5148072"/>
            <a:ext cx="2825496" cy="1014984"/>
          </a:xfrm>
          <a:prstGeom prst="roundRect">
            <a:avLst>
              <a:gd name="adj" fmla="val 3604"/>
            </a:avLst>
          </a:prstGeom>
          <a:solidFill>
            <a:srgbClr val="F5EBDC"/>
          </a:solidFill>
          <a:ln w="9525">
            <a:solidFill>
              <a:srgbClr val="DEC49E"/>
            </a:solidFill>
            <a:prstDash val="solid"/>
          </a:ln>
        </p:spPr>
        <p:txBody>
          <a:bodyPr/>
          <a:p/>
        </p:txBody>
      </p:sp>
      <p:sp>
        <p:nvSpPr>
          <p:cNvPr id="23" name="Text 18"/>
          <p:cNvSpPr/>
          <p:nvPr/>
        </p:nvSpPr>
        <p:spPr>
          <a:xfrm>
            <a:off x="6080760" y="5193792"/>
            <a:ext cx="2642616" cy="92354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20" b="1" dirty="0">
                <a:solidFill>
                  <a:srgbClr val="9369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0,00 °C охлаждение</a:t>
            </a:r>
            <a:endParaRPr lang="en-US" sz="11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96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При погодном фоне +0,4 °C</a:t>
            </a:r>
            <a:endParaRPr lang="en-US" sz="11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 модели охлаждение равно нулю до +10 °C; температурный множитель достигает 1 при +30 °C.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8906256" y="5148072"/>
            <a:ext cx="2825496" cy="1014984"/>
          </a:xfrm>
          <a:prstGeom prst="roundRect">
            <a:avLst>
              <a:gd name="adj" fmla="val 3604"/>
            </a:avLst>
          </a:prstGeom>
          <a:solidFill>
            <a:srgbClr val="FBFBF7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8997696" y="5193792"/>
            <a:ext cx="2642616" cy="92354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2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8 800 жителей</a:t>
            </a:r>
            <a:endParaRPr lang="en-US" sz="11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96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Условный охват четырёх участков</a:t>
            </a:r>
            <a:endParaRPr lang="en-US" sz="11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Сумма сценарных значений: 2 100 + 2 300 + 2 200 + 2 200; не подтверждённый эффект для жителей.</a:t>
            </a:r>
            <a:endParaRPr lang="en-US" sz="1100" dirty="0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12064" y="1828800"/>
          <a:ext cx="5239511" cy="36850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86819"/>
                <a:gridCol w="1152692"/>
              </a:tblGrid>
              <a:tr h="61417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5F5ED"/>
                          </a:solidFill>
                          <a:latin typeface="Segoe UI"/>
                        </a:rPr>
                        <a:t>Сохранённый план</a:t>
                      </a:r>
                    </a:p>
                  </a:txBody>
                  <a:tcPr marL="118872" marR="100584" marT="91440" marB="64008">
                    <a:solidFill>
                      <a:srgbClr val="1D44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5F5ED"/>
                          </a:solidFill>
                          <a:latin typeface="Segoe UI"/>
                        </a:rPr>
                        <a:t>Деревья</a:t>
                      </a:r>
                    </a:p>
                  </a:txBody>
                  <a:tcPr marL="118872" marR="100584" marT="91440" marB="64008">
                    <a:solidFill>
                      <a:srgbClr val="1D4435"/>
                    </a:solidFill>
                  </a:tcPr>
                </a:tc>
              </a:tr>
              <a:tr h="6141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3C2E"/>
                          </a:solidFill>
                          <a:latin typeface="Segoe UI"/>
                        </a:rPr>
                        <a:t>Туран · западный коридор</a:t>
                      </a:r>
                    </a:p>
                  </a:txBody>
                  <a:tcPr marL="118872" marR="100584" marT="91440" marB="64008">
                    <a:solidFill>
                      <a:srgbClr val="EEF3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3C2E"/>
                          </a:solidFill>
                          <a:latin typeface="Segoe UI"/>
                        </a:rPr>
                        <a:t>260</a:t>
                      </a:r>
                    </a:p>
                  </a:txBody>
                  <a:tcPr marL="118872" marR="100584" marT="91440" marB="64008">
                    <a:solidFill>
                      <a:srgbClr val="EEF3E7"/>
                    </a:solidFill>
                  </a:tcPr>
                </a:tc>
              </a:tr>
              <a:tr h="6141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3C2E"/>
                          </a:solidFill>
                          <a:latin typeface="Segoe UI"/>
                        </a:rPr>
                        <a:t>Республика · северный коридор</a:t>
                      </a:r>
                    </a:p>
                  </a:txBody>
                  <a:tcPr marL="118872" marR="100584" marT="91440" marB="64008">
                    <a:solidFill>
                      <a:srgbClr val="FA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3C2E"/>
                          </a:solidFill>
                          <a:latin typeface="Segoe UI"/>
                        </a:rPr>
                        <a:t>260</a:t>
                      </a:r>
                    </a:p>
                  </a:txBody>
                  <a:tcPr marL="118872" marR="100584" marT="91440" marB="64008">
                    <a:solidFill>
                      <a:srgbClr val="FAFAF5"/>
                    </a:solidFill>
                  </a:tcPr>
                </a:tc>
              </a:tr>
              <a:tr h="6141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3C2E"/>
                          </a:solidFill>
                          <a:latin typeface="Segoe UI"/>
                        </a:rPr>
                        <a:t>Абылай хана · восточный участок</a:t>
                      </a:r>
                    </a:p>
                  </a:txBody>
                  <a:tcPr marL="118872" marR="100584" marT="91440" marB="64008">
                    <a:solidFill>
                      <a:srgbClr val="EEF3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3C2E"/>
                          </a:solidFill>
                          <a:latin typeface="Segoe UI"/>
                        </a:rPr>
                        <a:t>260</a:t>
                      </a:r>
                    </a:p>
                  </a:txBody>
                  <a:tcPr marL="118872" marR="100584" marT="91440" marB="64008">
                    <a:solidFill>
                      <a:srgbClr val="EEF3E7"/>
                    </a:solidFill>
                  </a:tcPr>
                </a:tc>
              </a:tr>
              <a:tr h="6141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3C2E"/>
                          </a:solidFill>
                          <a:latin typeface="Segoe UI"/>
                        </a:rPr>
                        <a:t>Улы Дала · восточный участок</a:t>
                      </a:r>
                    </a:p>
                  </a:txBody>
                  <a:tcPr marL="118872" marR="100584" marT="91440" marB="64008">
                    <a:solidFill>
                      <a:srgbClr val="FA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3C2E"/>
                          </a:solidFill>
                          <a:latin typeface="Segoe UI"/>
                        </a:rPr>
                        <a:t>220</a:t>
                      </a:r>
                    </a:p>
                  </a:txBody>
                  <a:tcPr marL="118872" marR="100584" marT="91440" marB="64008">
                    <a:solidFill>
                      <a:srgbClr val="FAFAF5"/>
                    </a:solidFill>
                  </a:tcPr>
                </a:tc>
              </a:tr>
              <a:tr h="6141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3C2E"/>
                          </a:solidFill>
                          <a:latin typeface="Segoe UI"/>
                        </a:rPr>
                        <a:t>Итого / не распределено</a:t>
                      </a:r>
                    </a:p>
                  </a:txBody>
                  <a:tcPr marL="118872" marR="100584" marT="91440" marB="64008">
                    <a:solidFill>
                      <a:srgbClr val="EEF3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83C2E"/>
                          </a:solidFill>
                          <a:latin typeface="Segoe UI"/>
                        </a:rPr>
                        <a:t>1 000 / 0</a:t>
                      </a:r>
                    </a:p>
                  </a:txBody>
                  <a:tcPr marL="118872" marR="100584" marT="91440" marB="64008">
                    <a:solidFill>
                      <a:srgbClr val="EE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219456"/>
            <a:ext cx="475488" cy="219456"/>
          </a:xfrm>
          <a:prstGeom prst="rect">
            <a:avLst/>
          </a:prstGeom>
          <a:solidFill>
            <a:srgbClr val="E7EFE0"/>
          </a:solidFill>
          <a:ln w="9525">
            <a:solidFill>
              <a:srgbClr val="BDCCB4"/>
            </a:solidFill>
          </a:ln>
        </p:spPr>
        <p:txBody>
          <a:bodyPr wrap="square" lIns="12700" tIns="25400" rIns="25400" bIns="1270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24128" y="219456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spc="110" kern="0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СМЕТА ПОСАДОК, СРАВНЕНИЕ ВАРИАНТОВ И ОТЧЁТ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457200" y="484632"/>
            <a:ext cx="11274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5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Смета понятна по каждой строке, а варианты плана легко сравнить</a:t>
            </a:r>
            <a:endParaRPr lang="en-US" sz="2150" dirty="0"/>
          </a:p>
        </p:txBody>
      </p:sp>
      <p:sp>
        <p:nvSpPr>
          <p:cNvPr id="7" name="Shape 4"/>
          <p:cNvSpPr/>
          <p:nvPr/>
        </p:nvSpPr>
        <p:spPr>
          <a:xfrm>
            <a:off x="457200" y="1143000"/>
            <a:ext cx="11274552" cy="0"/>
          </a:xfrm>
          <a:prstGeom prst="line">
            <a:avLst/>
          </a:prstGeom>
          <a:noFill/>
          <a:ln w="1079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CFDAC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9509760" y="6428232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4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ASTRA · 05 / 10</a:t>
            </a:r>
            <a:endParaRPr lang="en-US" sz="9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5303520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133856"/>
                <a:gridCol w="978408"/>
                <a:gridCol w="978408"/>
              </a:tblGrid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F3F6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Статья расходов (1 000 вязов)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33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F3F6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Расценка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33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F3F6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1-й год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33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F3F6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За 10 лет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334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Саженцы вяза (1 000 шт.)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15 000 ₸/шт.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15,0 млн ₸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15,0 млн ₸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Работы по посадке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10 000 ₸/шт.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10,0 млн ₸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10,0 млн ₸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Ежегодный уход и полив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3 000 ₸/шт./год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3,0 млн ₸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30,0 млн ₸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Датчики контроля для пилота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разово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0,6 млн ₸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0,6 млн ₸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Поддержка программы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1,2 млн ₸/год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1,2 млн ₸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12,0 млн ₸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2281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ИТОГО по плану посадок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dirty="0">
                          <a:solidFill>
                            <a:srgbClr val="526B5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можно менять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1C433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29,8 млн ₸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80" b="1" dirty="0">
                          <a:solidFill>
                            <a:srgbClr val="9369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67,6 млн ₸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BDC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950208"/>
            <a:ext cx="5303520" cy="2267712"/>
          </a:xfrm>
          <a:prstGeom prst="roundRect">
            <a:avLst>
              <a:gd name="adj" fmla="val 1613"/>
            </a:avLst>
          </a:prstGeom>
          <a:solidFill>
            <a:srgbClr val="FBFBF7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2" name="Text 8"/>
          <p:cNvSpPr/>
          <p:nvPr/>
        </p:nvSpPr>
        <p:spPr>
          <a:xfrm>
            <a:off x="603504" y="4023360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Из чего складываются затраты: посадка и 10 лет ухода (млн ₸)</a:t>
            </a:r>
            <a:endParaRPr lang="en-US" sz="10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66928" y="4279392"/>
          <a:ext cx="5084064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9"/>
          <p:cNvSpPr/>
          <p:nvPr/>
        </p:nvSpPr>
        <p:spPr>
          <a:xfrm>
            <a:off x="603504" y="5705856"/>
            <a:ext cx="5010912" cy="43891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Стартовые ориентировочные цены (любую цифру можно поменять вручную). Не включают инфляцию, прокладку труб полива и замену погибших саженцев.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5961888" y="1298448"/>
            <a:ext cx="5769864" cy="2304288"/>
          </a:xfrm>
          <a:prstGeom prst="roundRect">
            <a:avLst>
              <a:gd name="adj" fmla="val 1778"/>
            </a:avLst>
          </a:prstGeom>
          <a:solidFill>
            <a:srgbClr val="EFF4EA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8" name="Text 12"/>
          <p:cNvSpPr/>
          <p:nvPr/>
        </p:nvSpPr>
        <p:spPr>
          <a:xfrm>
            <a:off x="6144768" y="1389888"/>
            <a:ext cx="5404104" cy="21214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40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Архив и сравнение вариантов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Сохранить расчёт вместе с параметрами, фоном и распределением.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Выбрать два плана в архиве и сравнить эффект и стоимость.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Скачать JSON, чтобы сохранить точные исходные данные.</a:t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lang="en-US" sz="11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20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Планы доступны 30 дней. Для сравнения вариантов нужен одинаковый исходный фон; изменение погоды тоже влияет на результат.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5961888" y="3767328"/>
            <a:ext cx="5769864" cy="2432304"/>
          </a:xfrm>
          <a:prstGeom prst="roundRect">
            <a:avLst>
              <a:gd name="adj" fmla="val 2162"/>
            </a:avLst>
          </a:prstGeom>
          <a:solidFill>
            <a:srgbClr val="F5EBDC"/>
          </a:solidFill>
          <a:ln w="9525">
            <a:solidFill>
              <a:srgbClr val="DEC49E"/>
            </a:solidFill>
            <a:prstDash val="solid"/>
          </a:ln>
        </p:spPr>
        <p:txBody>
          <a:bodyPr/>
          <a:p/>
        </p:txBody>
      </p:sp>
      <p:sp>
        <p:nvSpPr>
          <p:cNvPr id="22" name="Text 15"/>
          <p:cNvSpPr/>
          <p:nvPr/>
        </p:nvSpPr>
        <p:spPr>
          <a:xfrm>
            <a:off x="6144768" y="3858768"/>
            <a:ext cx="5404104" cy="224942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Отчёт, который можно проверить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Параметры сценария → распределение по участкам → эффект → смета.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 отдельной странице указаны источники данных, время и ограничения модели. JSON содержит точные числа. Кнопка печати открывает стандартный диалог браузера для сохранения отчёта в PDF.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219456"/>
            <a:ext cx="475488" cy="219456"/>
          </a:xfrm>
          <a:prstGeom prst="rect">
            <a:avLst/>
          </a:prstGeom>
          <a:solidFill>
            <a:srgbClr val="E7EFE0"/>
          </a:solidFill>
          <a:ln w="9525">
            <a:solidFill>
              <a:srgbClr val="BDCCB4"/>
            </a:solidFill>
          </a:ln>
        </p:spPr>
        <p:txBody>
          <a:bodyPr wrap="square" lIns="12700" tIns="25400" rIns="25400" bIns="1270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24128" y="219456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spc="110" kern="0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ЧТО УЖЕ ПРОВЕРЕНО И ЧТО ОЗНАЧАЮТ РЕЗУЛЬТАТЫ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457200" y="484632"/>
            <a:ext cx="11274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5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Проверки на синтетических данных: результат и ограничения</a:t>
            </a:r>
            <a:endParaRPr lang="en-US" sz="2150" dirty="0"/>
          </a:p>
        </p:txBody>
      </p:sp>
      <p:sp>
        <p:nvSpPr>
          <p:cNvPr id="7" name="Shape 4"/>
          <p:cNvSpPr/>
          <p:nvPr/>
        </p:nvSpPr>
        <p:spPr>
          <a:xfrm>
            <a:off x="457200" y="1143000"/>
            <a:ext cx="11274552" cy="0"/>
          </a:xfrm>
          <a:prstGeom prst="line">
            <a:avLst/>
          </a:prstGeom>
          <a:noFill/>
          <a:ln w="1079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CFDAC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9509760" y="6428232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4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ASTRA · 06 / 10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1280160"/>
            <a:ext cx="5440680" cy="4937760"/>
          </a:xfrm>
          <a:prstGeom prst="roundRect">
            <a:avLst>
              <a:gd name="adj" fmla="val 741"/>
            </a:avLst>
          </a:prstGeom>
          <a:solidFill>
            <a:srgbClr val="FBFBF7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21792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8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Как мы выбирали прогноз на 3 часа вперёд</a:t>
            </a:r>
            <a:endParaRPr lang="en-US" sz="1180" dirty="0"/>
          </a:p>
        </p:txBody>
      </p:sp>
      <p:sp>
        <p:nvSpPr>
          <p:cNvPr id="12" name="Text 9"/>
          <p:cNvSpPr/>
          <p:nvPr/>
        </p:nvSpPr>
        <p:spPr>
          <a:xfrm>
            <a:off x="621792" y="166420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960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PM2.5: средняя ошибка MAE на 3 временных блоках по 640 записей, seed=42. Единицы — мкг/м³; меньше — лучше.</a:t>
            </a:r>
            <a:endParaRPr lang="en-US" sz="96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85216" y="2048256"/>
          <a:ext cx="5175504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0"/>
          <p:cNvSpPr/>
          <p:nvPr/>
        </p:nvSpPr>
        <p:spPr>
          <a:xfrm>
            <a:off x="621792" y="4590288"/>
            <a:ext cx="5111496" cy="1481328"/>
          </a:xfrm>
          <a:prstGeom prst="roundRect">
            <a:avLst>
              <a:gd name="adj" fmla="val 2469"/>
            </a:avLst>
          </a:prstGeom>
          <a:solidFill>
            <a:srgbClr val="EFF4EA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731520" y="4626864"/>
            <a:ext cx="4892040" cy="140817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1C4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Что определило выбор моделей: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PM2.5: прогноз от текущего уровня лучше ML-кандидата, поэтому он основной.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ESI: ошибка 1,22 против 1,86 у базы на отдельном известном контроле (1 000 записей).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SHAP объясняет ML-модели; основной PM-прогноз объясняется правилом. Точность на реальных данных Астаны ещё не проверена.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108192" y="1280160"/>
            <a:ext cx="5623560" cy="2944368"/>
          </a:xfrm>
          <a:prstGeom prst="roundRect">
            <a:avLst>
              <a:gd name="adj" fmla="val 1242"/>
            </a:avLst>
          </a:prstGeom>
          <a:solidFill>
            <a:srgbClr val="FBFBF7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272784" y="1371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4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Распределение деревьев: 36 синтетических сценариев</a:t>
            </a:r>
            <a:endParaRPr lang="en-US" sz="114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2784" y="1755648"/>
          <a:ext cx="5294376" cy="914400"/>
        </p:xfrm>
        <a:graphic>
          <a:graphicData uri="http://schemas.openxmlformats.org/drawingml/2006/table">
            <a:tbl>
              <a:tblPr/>
              <a:tblGrid>
                <a:gridCol w="3374136"/>
                <a:gridCol w="1920240"/>
              </a:tblGrid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F3F6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Показатель модели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3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3F6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ASTRA против раздачи поровну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334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Собственная эвристическая цель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1C433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Выше в 36 из 36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EA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Среднее снижение PM2.5 по площади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1C433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Выше в 36 из 36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EA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Охлаждение в 24 тёплых сценариях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93693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Ниже в 24; в 12 холодных — 0 у обоих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BDC"/>
                    </a:solidFill>
                  </a:tcPr>
                </a:tc>
              </a:tr>
            </a:tbl>
          </a:graphicData>
        </a:graphic>
      </p:graphicFrame>
      <p:sp>
        <p:nvSpPr>
          <p:cNvPr id="19" name="Text 14"/>
          <p:cNvSpPr/>
          <p:nvPr/>
        </p:nvSpPr>
        <p:spPr>
          <a:xfrm>
            <a:off x="6272784" y="3419856"/>
            <a:ext cx="5294376" cy="7132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96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Сравнивались одни и те же выбранные участки с одинаковыми лимитами. Средние здесь рассчитаны по всем 40 зонам, включая зоны без посадок. Улучшение собственной цели не доказывает общий экологический выигрыш в городе.</a:t>
            </a:r>
            <a:endParaRPr lang="en-US" sz="960" dirty="0"/>
          </a:p>
        </p:txBody>
      </p:sp>
      <p:sp>
        <p:nvSpPr>
          <p:cNvPr id="20" name="Shape 15"/>
          <p:cNvSpPr/>
          <p:nvPr/>
        </p:nvSpPr>
        <p:spPr>
          <a:xfrm>
            <a:off x="6108192" y="4370832"/>
            <a:ext cx="5623560" cy="1847088"/>
          </a:xfrm>
          <a:prstGeom prst="roundRect">
            <a:avLst>
              <a:gd name="adj" fmla="val 1980"/>
            </a:avLst>
          </a:prstGeom>
          <a:solidFill>
            <a:srgbClr val="15362A"/>
          </a:solidFill>
          <a:ln w="12700">
            <a:solidFill>
              <a:srgbClr val="15362A"/>
            </a:solidFill>
            <a:prstDash val="solid"/>
          </a:ln>
        </p:spPr>
        <p:txBody>
          <a:bodyPr/>
          <a:p/>
        </p:txBody>
      </p:sp>
      <p:sp>
        <p:nvSpPr>
          <p:cNvPr id="21" name="Text 16"/>
          <p:cNvSpPr/>
          <p:nvPr/>
        </p:nvSpPr>
        <p:spPr>
          <a:xfrm>
            <a:off x="6291072" y="4480560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b="1" dirty="0">
                <a:solidFill>
                  <a:srgbClr val="B98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Проверка надёжности самой программы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291072" y="4828032"/>
            <a:ext cx="1225296" cy="1225296"/>
          </a:xfrm>
          <a:prstGeom prst="roundRect">
            <a:avLst>
              <a:gd name="adj" fmla="val 2985"/>
            </a:avLst>
          </a:prstGeom>
          <a:solidFill>
            <a:srgbClr val="1E4939"/>
          </a:solidFill>
          <a:ln w="9525">
            <a:solidFill>
              <a:srgbClr val="356854"/>
            </a:solidFill>
            <a:prstDash val="solid"/>
          </a:ln>
        </p:spPr>
        <p:txBody>
          <a:bodyPr/>
          <a:p/>
        </p:txBody>
      </p:sp>
      <p:sp>
        <p:nvSpPr>
          <p:cNvPr id="23" name="Text 18"/>
          <p:cNvSpPr/>
          <p:nvPr/>
        </p:nvSpPr>
        <p:spPr>
          <a:xfrm>
            <a:off x="6345936" y="4882896"/>
            <a:ext cx="1115568" cy="11155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теста расчётов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 сервера Python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7626096" y="4828032"/>
            <a:ext cx="1225296" cy="1225296"/>
          </a:xfrm>
          <a:prstGeom prst="roundRect">
            <a:avLst>
              <a:gd name="adj" fmla="val 2985"/>
            </a:avLst>
          </a:prstGeom>
          <a:solidFill>
            <a:srgbClr val="1E4939"/>
          </a:solidFill>
          <a:ln w="9525">
            <a:solidFill>
              <a:srgbClr val="356854"/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7680960" y="4882896"/>
            <a:ext cx="1115568" cy="11155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тестов интерфейса,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отчёта и языков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8961120" y="4828032"/>
            <a:ext cx="1225296" cy="1225296"/>
          </a:xfrm>
          <a:prstGeom prst="roundRect">
            <a:avLst>
              <a:gd name="adj" fmla="val 2985"/>
            </a:avLst>
          </a:prstGeom>
          <a:solidFill>
            <a:srgbClr val="1E4939"/>
          </a:solidFill>
          <a:ln w="9525">
            <a:solidFill>
              <a:srgbClr val="356854"/>
            </a:solidFill>
            <a:prstDash val="solid"/>
          </a:ln>
        </p:spPr>
        <p:txBody>
          <a:bodyPr/>
          <a:p/>
        </p:txBody>
      </p:sp>
      <p:sp>
        <p:nvSpPr>
          <p:cNvPr id="27" name="Text 22"/>
          <p:cNvSpPr/>
          <p:nvPr/>
        </p:nvSpPr>
        <p:spPr>
          <a:xfrm>
            <a:off x="9015984" y="4882896"/>
            <a:ext cx="1115568" cy="11155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640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записей за 31,76 с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 прежней приёмке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10296144" y="4828032"/>
            <a:ext cx="1225296" cy="1225296"/>
          </a:xfrm>
          <a:prstGeom prst="roundRect">
            <a:avLst>
              <a:gd name="adj" fmla="val 2985"/>
            </a:avLst>
          </a:prstGeom>
          <a:solidFill>
            <a:srgbClr val="1E4939"/>
          </a:solidFill>
          <a:ln w="9525">
            <a:solidFill>
              <a:srgbClr val="356854"/>
            </a:solidFill>
            <a:prstDash val="solid"/>
          </a:ln>
        </p:spPr>
        <p:txBody>
          <a:bodyPr/>
          <a:p/>
        </p:txBody>
      </p:sp>
      <p:sp>
        <p:nvSpPr>
          <p:cNvPr id="29" name="Text 24"/>
          <p:cNvSpPr/>
          <p:nvPr/>
        </p:nvSpPr>
        <p:spPr>
          <a:xfrm>
            <a:off x="10351008" y="4882896"/>
            <a:ext cx="1115568" cy="11155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план сохранился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после обновления</a:t>
            </a:r>
            <a:endParaRPr lang="en-US" sz="110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облачного сервера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219456"/>
            <a:ext cx="475488" cy="219456"/>
          </a:xfrm>
          <a:prstGeom prst="rect">
            <a:avLst/>
          </a:prstGeom>
          <a:solidFill>
            <a:srgbClr val="E7EFE0"/>
          </a:solidFill>
          <a:ln w="9525">
            <a:solidFill>
              <a:srgbClr val="BDCCB4"/>
            </a:solidFill>
          </a:ln>
        </p:spPr>
        <p:txBody>
          <a:bodyPr wrap="square" lIns="12700" tIns="25400" rIns="25400" bIns="1270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24128" y="219456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spc="110" kern="0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СРАВНЕНИЕ С СУЩЕСТВУЮЩИМИ ИНСТРУМЕНТАМИ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457200" y="484632"/>
            <a:ext cx="11274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5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Чем ASTRA полезна на фоне существующих решений</a:t>
            </a:r>
            <a:endParaRPr lang="en-US" sz="2150" dirty="0"/>
          </a:p>
        </p:txBody>
      </p:sp>
      <p:sp>
        <p:nvSpPr>
          <p:cNvPr id="7" name="Shape 4"/>
          <p:cNvSpPr/>
          <p:nvPr/>
        </p:nvSpPr>
        <p:spPr>
          <a:xfrm>
            <a:off x="457200" y="1143000"/>
            <a:ext cx="11274552" cy="0"/>
          </a:xfrm>
          <a:prstGeom prst="line">
            <a:avLst/>
          </a:prstGeom>
          <a:noFill/>
          <a:ln w="1079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CFDAC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9509760" y="6428232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4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ASTRA · 07 / 10</a:t>
            </a:r>
            <a:endParaRPr lang="en-US" sz="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8448"/>
          <a:ext cx="1127455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697480"/>
                <a:gridCol w="3090672"/>
                <a:gridCol w="3337560"/>
              </a:tblGrid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F3F6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Что сравниваем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3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F3F6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Карты Казгидромета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3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F3F6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Семейство i-Tree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3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F3F6EE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Прототип ASTRA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A4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Основная задача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Официальное наблюдение за воздухом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Оценка структуры и пользы деревьев; приоритетов посадок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12281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Предварительный план посадок и смета для Астаны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Исходные данные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Государственная сеть постов и наблюдения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Eco: инвентаризация или полевые данные; Landscape: слои США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Городской модельный фон и 40 сценарных участков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Адаптация к местной задаче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Наблюдения служат опорой для проверки моделей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Требуется выбор инструмента и местная адаптация входных данных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Сценарные лимиты 180–650 деревьев и редактируемые цены в ₸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Результат работы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Карты текущих и архивных наблюдений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Оценки экосистемных услуг; отчёты зависят от инструмента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Сохранение, сравнение, JSON и печатный отчёт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0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b="1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Практическая роль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4E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Проверенные измерения окружающей среды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Подробная оценка при наличии подходящих данных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B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80" dirty="0">
                          <a:solidFill>
                            <a:srgbClr val="283D33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Черновик плана; три языка; проверка на месте обязательна</a:t>
                      </a:r>
                      <a:endParaRPr lang="en-US" sz="98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38100" marB="38100" anchor="ctr">
                    <a:lnL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FD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FE0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5285232"/>
            <a:ext cx="11274552" cy="914400"/>
          </a:xfrm>
          <a:prstGeom prst="roundRect">
            <a:avLst>
              <a:gd name="adj" fmla="val 4000"/>
            </a:avLst>
          </a:prstGeom>
          <a:solidFill>
            <a:srgbClr val="15362A"/>
          </a:solidFill>
          <a:ln w="12700">
            <a:solidFill>
              <a:srgbClr val="15362A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457200" y="5285232"/>
            <a:ext cx="91440" cy="914400"/>
          </a:xfrm>
          <a:prstGeom prst="rect">
            <a:avLst/>
          </a:prstGeom>
          <a:solidFill>
            <a:srgbClr val="B98B4D"/>
          </a:solidFill>
          <a:ln w="12700">
            <a:solidFill>
              <a:srgbClr val="B98B4D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676656" y="5358384"/>
            <a:ext cx="10881360" cy="76809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20" b="1" dirty="0">
                <a:solidFill>
                  <a:srgbClr val="B98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Отличие ASTRA — единый рабочий процесс для Астаны: сравнить участки, распределить деревья, оценить сценарный эффект и расходы в тенге. Это гипотеза удобства для специалистов; она ещё требует интервью. Программа не заменяет официальные замеры и обследование места посадки.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219456"/>
            <a:ext cx="475488" cy="219456"/>
          </a:xfrm>
          <a:prstGeom prst="rect">
            <a:avLst/>
          </a:prstGeom>
          <a:solidFill>
            <a:srgbClr val="E7EFE0"/>
          </a:solidFill>
          <a:ln w="9525">
            <a:solidFill>
              <a:srgbClr val="BDCCB4"/>
            </a:solidFill>
          </a:ln>
        </p:spPr>
        <p:txBody>
          <a:bodyPr wrap="square" lIns="12700" tIns="25400" rIns="25400" bIns="1270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24128" y="219456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spc="110" kern="0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ПОЛЬЗОВАТЕЛИ, ФИНАНСИРОВАНИЕ И СТРУКТУРА РАСХОДОВ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457200" y="484632"/>
            <a:ext cx="11274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5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Кто будет пользоваться сервисом и как разделены три вида затрат</a:t>
            </a:r>
            <a:endParaRPr lang="en-US" sz="2150" dirty="0"/>
          </a:p>
        </p:txBody>
      </p:sp>
      <p:sp>
        <p:nvSpPr>
          <p:cNvPr id="7" name="Shape 4"/>
          <p:cNvSpPr/>
          <p:nvPr/>
        </p:nvSpPr>
        <p:spPr>
          <a:xfrm>
            <a:off x="457200" y="1143000"/>
            <a:ext cx="11274552" cy="0"/>
          </a:xfrm>
          <a:prstGeom prst="line">
            <a:avLst/>
          </a:prstGeom>
          <a:noFill/>
          <a:ln w="1079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CFDAC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9509760" y="6428232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4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ASTRA · 08 / 10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1280160"/>
            <a:ext cx="5468112" cy="1664208"/>
          </a:xfrm>
          <a:prstGeom prst="roundRect">
            <a:avLst>
              <a:gd name="adj" fmla="val 2198"/>
            </a:avLst>
          </a:prstGeom>
          <a:solidFill>
            <a:srgbClr val="FBFBF7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57200" y="1280160"/>
            <a:ext cx="5468112" cy="6400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21792" y="1389888"/>
            <a:ext cx="5138928" cy="14813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8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Для кого предназначен прототип</a:t>
            </a:r>
            <a:endParaRPr lang="en-US" sz="1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9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Городские службы экологии и озеленения.</a:t>
            </a:r>
            <a:endParaRPr lang="en-US" sz="1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9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Проектировщики и подрядчики при подготовке районных планов.</a:t>
            </a:r>
            <a:endParaRPr lang="en-US" sz="1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9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Исследователи и экологические команды.</a:t>
            </a:r>
            <a:endParaRPr lang="en-US" sz="11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99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Пользовательские интервью и спрос пока не подтверждены.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44768" y="1280160"/>
            <a:ext cx="5586984" cy="1664208"/>
          </a:xfrm>
          <a:prstGeom prst="roundRect">
            <a:avLst>
              <a:gd name="adj" fmla="val 2198"/>
            </a:avLst>
          </a:prstGeom>
          <a:solidFill>
            <a:srgbClr val="EFF4EA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6144768" y="1280160"/>
            <a:ext cx="5586984" cy="64008"/>
          </a:xfrm>
          <a:prstGeom prst="rect">
            <a:avLst/>
          </a:prstGeom>
          <a:solidFill>
            <a:srgbClr val="B98B4D"/>
          </a:solidFill>
          <a:ln w="12700">
            <a:solidFill>
              <a:srgbClr val="B98B4D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6309360" y="1389888"/>
            <a:ext cx="5257800" cy="14813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18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Возможные заказчики и развитие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Настройка под район и сопровождение по договору с оператором озеленения.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Пилот через грант или партнёрскую программу.</a:t>
            </a:r>
            <a:endParaRPr lang="en-US" sz="11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Сейчас нет подтверждённых клиентов, выручки и финансирования. Условия данных и API для коммерческого запуска нужно проверить отдельно.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3090672"/>
            <a:ext cx="3611880" cy="2505456"/>
          </a:xfrm>
          <a:prstGeom prst="roundRect">
            <a:avLst>
              <a:gd name="adj" fmla="val 1460"/>
            </a:avLst>
          </a:prstGeom>
          <a:solidFill>
            <a:srgbClr val="FBFBF7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585216" y="3182112"/>
            <a:ext cx="3355848" cy="232257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БЮДЖЕТ САМИХ ПОСАДОК
</a:t>
            </a:r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C4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29,8 млн ₸
</a:t>
            </a:r>
            <a:pPr algn="l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 1-й год · 67,6 млн ₸ за 10 лет
</a:t>
            </a:r>
            <a:pPr algn="l"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Ориентировочная смета озеленения в приложении на примере 1 000 вязов: саженцы 15,0 млн, посадка 10,0 млн, уход 3,0 млн в год, а также базовые строки на датчики (0,6 млн) и поддержку программы (1,2 млн в год).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88536" y="3090672"/>
            <a:ext cx="3611880" cy="2505456"/>
          </a:xfrm>
          <a:prstGeom prst="roundRect">
            <a:avLst>
              <a:gd name="adj" fmla="val 1460"/>
            </a:avLst>
          </a:prstGeom>
          <a:solidFill>
            <a:srgbClr val="F5EBDC"/>
          </a:solidFill>
          <a:ln w="9525">
            <a:solidFill>
              <a:srgbClr val="DEC49E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416552" y="3182112"/>
            <a:ext cx="3355848" cy="232257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ПИЛОТНАЯ ПРОВЕРКА (6 НЕДЕЛЬ)
</a:t>
            </a:r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9369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1,13–2,71 млн ₸
</a:t>
            </a:r>
            <a:pPr algn="l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предварительная оценка (с запасом 15%)
</a:t>
            </a:r>
            <a:pPr algn="l"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Проверка точности данных и удобства работы на 4 участках: инженер данных (80–120 ч), эколог (24–40 ч), тесты со специалистами (24–40 ч), аренда 4 датчиков пыли на 2 мес. и сверка с постом. Без цены деревьев.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119872" y="3090672"/>
            <a:ext cx="3611880" cy="2505456"/>
          </a:xfrm>
          <a:prstGeom prst="roundRect">
            <a:avLst>
              <a:gd name="adj" fmla="val 1460"/>
            </a:avLst>
          </a:prstGeom>
          <a:solidFill>
            <a:srgbClr val="FBFBF7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8247888" y="3182112"/>
            <a:ext cx="3355848" cy="232257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ПОДДЕРЖКА СЕРВИСА ЗА ГОД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0,74–2,32 млн ₸/год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плановый бюджет после пилота</a:t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6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lang="en-US" sz="11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Сервер, резервные копии, поддержка (8–16 ч/мес.) и контроль данных (4–8 ч/мес.), до налогов и платных тарифов. Текущая демонстрация работает на бесплатных Render и Neon; это не её фактические расходы.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5724144"/>
            <a:ext cx="11274552" cy="493776"/>
          </a:xfrm>
          <a:prstGeom prst="roundRect">
            <a:avLst>
              <a:gd name="adj" fmla="val 7407"/>
            </a:avLst>
          </a:prstGeom>
          <a:solidFill>
            <a:srgbClr val="15362A"/>
          </a:solidFill>
          <a:ln w="12700">
            <a:solidFill>
              <a:srgbClr val="15362A"/>
            </a:solidFill>
            <a:prstDash val="solid"/>
          </a:ln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621792" y="5769864"/>
            <a:ext cx="10954512" cy="40233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Важно: эти три суммы НЕ складываются напрямую, так как смета посадок уже включает базовые расходы на датчики (0,6 млн ₸) и поддержку программы (1,2 млн ₸/год).</a:t>
            </a:r>
            <a:endParaRPr lang="en-US" sz="9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219456"/>
            <a:ext cx="475488" cy="219456"/>
          </a:xfrm>
          <a:prstGeom prst="rect">
            <a:avLst/>
          </a:prstGeom>
          <a:solidFill>
            <a:srgbClr val="E7EFE0"/>
          </a:solidFill>
          <a:ln w="9525">
            <a:solidFill>
              <a:srgbClr val="BDCCB4"/>
            </a:solidFill>
          </a:ln>
        </p:spPr>
        <p:txBody>
          <a:bodyPr wrap="square" lIns="12700" tIns="25400" rIns="25400" bIns="1270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2D6A4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24128" y="219456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spc="110" kern="0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ПЛАН ПИЛОТА, ПОЛЕВАЯ ПРОВЕРКА ЭФФЕКТА И СЛЕДУЮЩИЙ ШАГ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457200" y="484632"/>
            <a:ext cx="11274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5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План пилота на 4 участках: от сверки датчиков до сезонных замеров</a:t>
            </a:r>
            <a:endParaRPr lang="en-US" sz="2150" dirty="0"/>
          </a:p>
        </p:txBody>
      </p:sp>
      <p:sp>
        <p:nvSpPr>
          <p:cNvPr id="7" name="Shape 4"/>
          <p:cNvSpPr/>
          <p:nvPr/>
        </p:nvSpPr>
        <p:spPr>
          <a:xfrm>
            <a:off x="457200" y="1143000"/>
            <a:ext cx="11274552" cy="0"/>
          </a:xfrm>
          <a:prstGeom prst="line">
            <a:avLst/>
          </a:prstGeom>
          <a:noFill/>
          <a:ln w="1079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CFDAC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9509760" y="6428232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4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ASTRA · 09 / 10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7200" y="1280160"/>
            <a:ext cx="6967728" cy="2816352"/>
          </a:xfrm>
          <a:prstGeom prst="roundRect">
            <a:avLst>
              <a:gd name="adj" fmla="val 1299"/>
            </a:avLst>
          </a:prstGeom>
          <a:solidFill>
            <a:srgbClr val="FBFBF7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57200" y="1280160"/>
            <a:ext cx="6967728" cy="384048"/>
          </a:xfrm>
          <a:prstGeom prst="roundRect">
            <a:avLst>
              <a:gd name="adj" fmla="val 7143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03504" y="1316736"/>
            <a:ext cx="6675120" cy="31089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ЭТАП 1 · 6 НЕДЕЛЬ · ПРОВЕРКА ДАННЫХ И УДОБСТВА РАБОТЫ (2 УЧАСТКА ПОСАДКИ + 2 КОНТРОЛЯ)</a:t>
            </a:r>
            <a:endParaRPr lang="en-US" sz="960" dirty="0"/>
          </a:p>
        </p:txBody>
      </p:sp>
      <p:sp>
        <p:nvSpPr>
          <p:cNvPr id="13" name="Shape 10"/>
          <p:cNvSpPr/>
          <p:nvPr/>
        </p:nvSpPr>
        <p:spPr>
          <a:xfrm>
            <a:off x="621792" y="1810512"/>
            <a:ext cx="128016" cy="530352"/>
          </a:xfrm>
          <a:prstGeom prst="rect">
            <a:avLst/>
          </a:prstGeom>
          <a:solidFill>
            <a:srgbClr val="3B7A57"/>
          </a:solidFill>
          <a:ln w="12700">
            <a:solidFill>
              <a:srgbClr val="3B7A5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59536" y="1755648"/>
            <a:ext cx="6419088" cy="67665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Недели 1–2 · Встречи и сверка приборов
</a:t>
            </a:r>
            <a:pPr algn="l"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 рабочих встреч со специалистами озеленения, выбор 2 пар похожих участков в Астане и сверка недорогих датчиков пыли рядом с постом Казгидромета.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21792" y="2560320"/>
            <a:ext cx="128016" cy="530352"/>
          </a:xfrm>
          <a:prstGeom prst="rect">
            <a:avLst/>
          </a:prstGeom>
          <a:solidFill>
            <a:srgbClr val="3B7A57"/>
          </a:solidFill>
          <a:ln w="12700">
            <a:solidFill>
              <a:srgbClr val="3B7A57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859536" y="2505456"/>
            <a:ext cx="6419088" cy="67665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Недели 3–5 · Замеры на улицах
</a:t>
            </a:r>
            <a:pPr algn="l"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Непрерывная запись пыли PM2.5 и замеры нагрева покрытий в одни и те же часы, уточнение числа мест под лунки и реальных цен местных питомников.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" y="3310128"/>
            <a:ext cx="128016" cy="530352"/>
          </a:xfrm>
          <a:prstGeom prst="rect">
            <a:avLst/>
          </a:prstGeom>
          <a:solidFill>
            <a:srgbClr val="B98B4D"/>
          </a:solidFill>
          <a:ln w="12700">
            <a:solidFill>
              <a:srgbClr val="B98B4D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859536" y="3255264"/>
            <a:ext cx="6419088" cy="67665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3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Неделя 6 · Проверка точности и удобства
</a:t>
            </a:r>
            <a:pPr algn="l"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Сравнение прогноза программы с реальными уличными замерами, тестовый подбор участков вместе со специалистами и итоговый отчёт по пилоту.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42816"/>
            <a:ext cx="6967728" cy="1975104"/>
          </a:xfrm>
          <a:prstGeom prst="roundRect">
            <a:avLst>
              <a:gd name="adj" fmla="val 1852"/>
            </a:avLst>
          </a:prstGeom>
          <a:solidFill>
            <a:srgbClr val="F5EBDC"/>
          </a:solidFill>
          <a:ln w="9525">
            <a:solidFill>
              <a:srgbClr val="DEC49E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457200" y="4242816"/>
            <a:ext cx="6967728" cy="384048"/>
          </a:xfrm>
          <a:prstGeom prst="roundRect">
            <a:avLst>
              <a:gd name="adj" fmla="val 7143"/>
            </a:avLst>
          </a:prstGeom>
          <a:solidFill>
            <a:srgbClr val="936930"/>
          </a:solidFill>
          <a:ln w="12700">
            <a:solidFill>
              <a:srgbClr val="936930"/>
            </a:solidFill>
            <a:prstDash val="solid"/>
          </a:ln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03504" y="4279392"/>
            <a:ext cx="6675120" cy="31089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6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ЭТАП 2 · ПОЛНЫЙ ТЁПЛЫЙ СЕЗОН · ПРОВЕРКА РЕАЛЬНОГО ЭФФЕКТА ПОСАЖЕННЫХ ДЕРЕВЬЕВ</a:t>
            </a:r>
            <a:endParaRPr lang="en-US" sz="960" dirty="0"/>
          </a:p>
        </p:txBody>
      </p:sp>
      <p:sp>
        <p:nvSpPr>
          <p:cNvPr id="22" name="Text 19"/>
          <p:cNvSpPr/>
          <p:nvPr/>
        </p:nvSpPr>
        <p:spPr>
          <a:xfrm>
            <a:off x="621792" y="4700016"/>
            <a:ext cx="6656832" cy="144475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02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За 6 недель проверяем данные и рабочий процесс. За тёплый сезон начинаем наблюдение за саженцами:</a:t>
            </a:r>
            <a:endParaRPr lang="en-US" sz="1100" dirty="0"/>
          </a:p>
          <a:p>
            <a:pPr algn="l" indent="0" marL="0">
              <a:lnSpc>
                <a:spcPct val="107000"/>
              </a:lnSpc>
              <a:buNone/>
            </a:pPr>
            <a:r>
              <a:rPr lang="en-US" sz="97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Приживаемость по породам и фактический прирост кроны.</a:t>
            </a:r>
            <a:endParaRPr lang="en-US" sz="1100" dirty="0"/>
          </a:p>
          <a:p>
            <a:pPr algn="l" indent="0" marL="0">
              <a:lnSpc>
                <a:spcPct val="107000"/>
              </a:lnSpc>
              <a:buNone/>
            </a:pPr>
            <a:r>
              <a:rPr lang="en-US" sz="97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PM2.5 и нагрев «до и после» относительно контрольных улиц с учётом погоды.</a:t>
            </a:r>
            <a:endParaRPr lang="en-US" sz="1100" dirty="0"/>
          </a:p>
          <a:p>
            <a:pPr algn="l" indent="0" marL="0">
              <a:lnSpc>
                <a:spcPct val="107000"/>
              </a:lnSpc>
              <a:buNone/>
            </a:pPr>
            <a:r>
              <a:rPr lang="en-US" sz="97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Уточнение параметров модели. Эффект взрослых деревьев на горизонте 10 лет требует многолетних наблюдений; один сезон его не докажет.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635240" y="1280160"/>
            <a:ext cx="4096512" cy="4937760"/>
          </a:xfrm>
          <a:prstGeom prst="roundRect">
            <a:avLst>
              <a:gd name="adj" fmla="val 1116"/>
            </a:avLst>
          </a:prstGeom>
          <a:solidFill>
            <a:srgbClr val="15362A"/>
          </a:solidFill>
          <a:ln w="12700">
            <a:solidFill>
              <a:srgbClr val="15362A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7863840" y="146304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b="1" spc="110" kern="0" dirty="0">
                <a:solidFill>
                  <a:srgbClr val="B98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ЧТО УЖЕ ГОТОВО СЕЙЧАС</a:t>
            </a:r>
            <a:endParaRPr lang="en-US" sz="980" dirty="0"/>
          </a:p>
        </p:txBody>
      </p:sp>
      <p:sp>
        <p:nvSpPr>
          <p:cNvPr id="25" name="Text 22"/>
          <p:cNvSpPr/>
          <p:nvPr/>
        </p:nvSpPr>
        <p:spPr>
          <a:xfrm>
            <a:off x="7863840" y="1755648"/>
            <a:ext cx="3657600" cy="184708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990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Приложение доступно онлайн: Render + PostgreSQL в Neon</a:t>
            </a:r>
            <a:endParaRPr lang="en-US" sz="99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990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40 расчётных участков; живой городской фон воздуха и погоды</a:t>
            </a:r>
            <a:endParaRPr lang="en-US" sz="99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990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План посадок, прогноз +3 ч, смета и объяснения</a:t>
            </a:r>
            <a:endParaRPr lang="en-US" sz="99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990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Архив 30 дней, сравнение, JSON и печать в PDF</a:t>
            </a:r>
            <a:endParaRPr lang="en-US" sz="99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990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Три языка и 81 пройденный автотест</a:t>
            </a:r>
            <a:endParaRPr lang="en-US" sz="990" dirty="0"/>
          </a:p>
        </p:txBody>
      </p:sp>
      <p:sp>
        <p:nvSpPr>
          <p:cNvPr id="26" name="Shape 23"/>
          <p:cNvSpPr/>
          <p:nvPr/>
        </p:nvSpPr>
        <p:spPr>
          <a:xfrm>
            <a:off x="7863840" y="3730752"/>
            <a:ext cx="3657600" cy="0"/>
          </a:xfrm>
          <a:prstGeom prst="line">
            <a:avLst/>
          </a:prstGeom>
          <a:noFill/>
          <a:ln w="11430">
            <a:solidFill>
              <a:srgbClr val="356854"/>
            </a:solidFill>
            <a:prstDash val="solid"/>
          </a:ln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7863840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80" b="1" spc="110" kern="0" dirty="0">
                <a:solidFill>
                  <a:srgbClr val="B98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СЛЕДУЮЩИЙ ШАГ ДЛЯ СТАРТА ПИЛОТА</a:t>
            </a:r>
            <a:endParaRPr lang="en-US" sz="980" dirty="0"/>
          </a:p>
        </p:txBody>
      </p:sp>
      <p:sp>
        <p:nvSpPr>
          <p:cNvPr id="28" name="Text 25"/>
          <p:cNvSpPr/>
          <p:nvPr/>
        </p:nvSpPr>
        <p:spPr>
          <a:xfrm>
            <a:off x="7863840" y="4169664"/>
            <a:ext cx="3657600" cy="181051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60" b="1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Что нужно для запуска Этапа 1:
</a:t>
            </a:r>
            <a:pPr algn="l" indent="0" marL="0">
              <a:lnSpc>
                <a:spcPct val="112000"/>
              </a:lnSpc>
              <a:buNone/>
            </a:pPr>
            <a:r>
              <a:rPr lang="en-US" sz="99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Согласовать 4 пилотных участка со службой озеленения Астаны.</a:t>
            </a:r>
            <a:endParaRPr lang="en-US" sz="11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9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Получить архивные данные городских постов для настройки прогноза.</a:t>
            </a:r>
            <a:endParaRPr lang="en-US" sz="11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990" dirty="0">
                <a:solidFill>
                  <a:srgbClr val="C2D8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Поддержать бюджет 6-недельной проверки: 1,13–2,71 млн ₸ (предварительная оценка).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B4D"/>
          </a:solidFill>
          <a:ln w="12700">
            <a:solidFill>
              <a:srgbClr val="B98B4D"/>
            </a:solidFill>
            <a:prstDash val="solid"/>
          </a:ln>
        </p:spPr>
        <p:txBody>
          <a:bodyPr/>
          <a:p/>
        </p:txBody>
      </p:sp>
      <p:sp>
        <p:nvSpPr>
          <p:cNvPr id="4" name="Text 1"/>
          <p:cNvSpPr/>
          <p:nvPr/>
        </p:nvSpPr>
        <p:spPr>
          <a:xfrm>
            <a:off x="457200" y="219456"/>
            <a:ext cx="475488" cy="219456"/>
          </a:xfrm>
          <a:prstGeom prst="rect">
            <a:avLst/>
          </a:prstGeom>
          <a:solidFill>
            <a:srgbClr val="F5EBDC"/>
          </a:solidFill>
          <a:ln w="9525">
            <a:solidFill>
              <a:srgbClr val="DEC49E"/>
            </a:solidFill>
          </a:ln>
        </p:spPr>
        <p:txBody>
          <a:bodyPr wrap="square" lIns="12700" tIns="25400" rIns="25400" bIns="1270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9369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24128" y="219456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950" b="1" spc="110" kern="0" dirty="0">
                <a:solidFill>
                  <a:srgbClr val="526B5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ИСТОЧНИКИ, ОГРАНИЧЕНИЯ И РОЛЬ ИИ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9464040" y="219456"/>
            <a:ext cx="2267712" cy="219456"/>
          </a:xfrm>
          <a:prstGeom prst="rect">
            <a:avLst/>
          </a:prstGeom>
          <a:solidFill>
            <a:srgbClr val="F5EBDC"/>
          </a:solidFill>
          <a:ln w="9525">
            <a:solidFill>
              <a:srgbClr val="DEC49E"/>
            </a:solidFill>
          </a:ln>
        </p:spPr>
        <p:txBody>
          <a:bodyPr wrap="square" lIns="12700" tIns="50800" rIns="50800" bIns="1270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9369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ВЕРСИЯ · 26.10.2026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7200" y="484632"/>
            <a:ext cx="11274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15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 чём основаны данные и где заканчивается точность модели</a:t>
            </a:r>
            <a:endParaRPr lang="en-US" sz="215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11274552" cy="0"/>
          </a:xfrm>
          <a:prstGeom prst="line">
            <a:avLst/>
          </a:prstGeom>
          <a:noFill/>
          <a:ln w="1079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457200" y="6382512"/>
            <a:ext cx="11274552" cy="0"/>
          </a:xfrm>
          <a:prstGeom prst="line">
            <a:avLst/>
          </a:prstGeom>
          <a:noFill/>
          <a:ln w="9525">
            <a:solidFill>
              <a:srgbClr val="CFDACA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9509760" y="6428232"/>
            <a:ext cx="2221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43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ASTRA · 10 / 10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7086600" y="1298448"/>
            <a:ext cx="4645152" cy="2084832"/>
          </a:xfrm>
          <a:prstGeom prst="roundRect">
            <a:avLst>
              <a:gd name="adj" fmla="val 1754"/>
            </a:avLst>
          </a:prstGeom>
          <a:solidFill>
            <a:srgbClr val="FBFBF7"/>
          </a:solidFill>
          <a:ln w="9525">
            <a:solidFill>
              <a:srgbClr val="BDCCB4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7242048" y="1408176"/>
            <a:ext cx="4334256" cy="186537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4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Границы точности</a:t>
            </a:r>
            <a:endParaRPr lang="en-US" sz="1100" dirty="0"/>
          </a:p>
          <a:p>
            <a:pPr algn="l" indent="0" marL="0">
              <a:lnSpc>
                <a:spcPct val="107000"/>
              </a:lnSpc>
              <a:buNone/>
            </a:pPr>
            <a:r>
              <a:rPr lang="en-US" sz="1140" b="1" dirty="0">
                <a:solidFill>
                  <a:srgbClr val="12281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lang="en-US" sz="1100" dirty="0"/>
          </a:p>
          <a:p>
            <a:pPr algn="l" indent="0" marL="0">
              <a:lnSpc>
                <a:spcPct val="107000"/>
              </a:lnSpc>
              <a:buNone/>
            </a:pPr>
            <a:r>
              <a:rPr lang="en-US" sz="96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Участки, вместимость, озеленённость и жители — сценарные данные, а не сеть датчиков.</a:t>
            </a:r>
            <a:endParaRPr lang="en-US" sz="1100" dirty="0"/>
          </a:p>
          <a:p>
            <a:pPr algn="l" indent="0" marL="0">
              <a:lnSpc>
                <a:spcPct val="107000"/>
              </a:lnSpc>
              <a:buNone/>
            </a:pPr>
            <a:r>
              <a:rPr lang="en-US" sz="96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Параметры пород и цены предварительные. Эффект посадок в Астане не измерен.</a:t>
            </a:r>
            <a:endParaRPr lang="en-US" sz="1100" dirty="0"/>
          </a:p>
          <a:p>
            <a:pPr algn="l" indent="0" marL="0">
              <a:lnSpc>
                <a:spcPct val="107000"/>
              </a:lnSpc>
              <a:buNone/>
            </a:pPr>
            <a:r>
              <a:rPr lang="en-US" sz="96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Прогноз проверен на синтетике. Диапазон ×0,5–1,5 — чувствительность, не вероятность.</a:t>
            </a:r>
            <a:endParaRPr lang="en-US" sz="1100" dirty="0"/>
          </a:p>
          <a:p>
            <a:pPr algn="l" indent="0" marL="0">
              <a:lnSpc>
                <a:spcPct val="107000"/>
              </a:lnSpc>
              <a:buNone/>
            </a:pPr>
            <a:r>
              <a:rPr lang="en-US" sz="960" dirty="0">
                <a:solidFill>
                  <a:srgbClr val="283D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Полные ссылки и точный пример — в sources.md и приложенном JSON.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086600" y="3547872"/>
            <a:ext cx="4645152" cy="2633472"/>
          </a:xfrm>
          <a:prstGeom prst="roundRect">
            <a:avLst>
              <a:gd name="adj" fmla="val 1389"/>
            </a:avLst>
          </a:prstGeom>
          <a:solidFill>
            <a:srgbClr val="15362A"/>
          </a:solidFill>
          <a:ln w="12700">
            <a:solidFill>
              <a:srgbClr val="15362A"/>
            </a:solidFill>
            <a:prstDash val="solid"/>
          </a:ln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7086600" y="3547872"/>
            <a:ext cx="82296" cy="2633472"/>
          </a:xfrm>
          <a:prstGeom prst="rect">
            <a:avLst/>
          </a:prstGeom>
          <a:solidFill>
            <a:srgbClr val="B98B4D"/>
          </a:solidFill>
          <a:ln w="12700">
            <a:solidFill>
              <a:srgbClr val="B98B4D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/>
          <p:nvPr/>
        </p:nvSpPr>
        <p:spPr>
          <a:xfrm>
            <a:off x="7278624" y="3639312"/>
            <a:ext cx="4297680" cy="245059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lnSpc>
                <a:spcPct val="107000"/>
              </a:lnSpc>
              <a:buNone/>
            </a:pPr>
            <a:r>
              <a:rPr lang="en-US" sz="1120" b="1" dirty="0">
                <a:solidFill>
                  <a:srgbClr val="B98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Как использовался ИИ</a:t>
            </a:r>
            <a:endParaRPr lang="en-US" sz="1100" dirty="0"/>
          </a:p>
          <a:p>
            <a:pPr algn="l" indent="0" marL="0">
              <a:lnSpc>
                <a:spcPct val="107000"/>
              </a:lnSpc>
              <a:buNone/>
            </a:pPr>
            <a:r>
              <a:rPr lang="en-US" sz="1120" b="1" dirty="0">
                <a:solidFill>
                  <a:srgbClr val="B98B4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/>
            </a:r>
            <a:endParaRPr lang="en-US" sz="1100" dirty="0"/>
          </a:p>
          <a:p>
            <a:pPr algn="l" indent="0" marL="0">
              <a:lnSpc>
                <a:spcPct val="107000"/>
              </a:lnSpc>
              <a:buNone/>
            </a:pPr>
            <a:r>
              <a:rPr lang="en-US" sz="960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В ASTRA: LightGBM для ESI и экспериментального прогноза PM2.5; SHAP для объяснения ML. Основной прогноз PM2.5 — от текущего уровня.</a:t>
            </a:r>
            <a:endParaRPr lang="en-US" sz="1100" dirty="0"/>
          </a:p>
          <a:p>
            <a:pPr algn="l" indent="0" marL="0">
              <a:lnSpc>
                <a:spcPct val="107000"/>
              </a:lnSpc>
              <a:buNone/>
            </a:pPr>
            <a:r>
              <a:rPr lang="en-US" sz="960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ИИ-помощники Codex, Gemini/Argon и Opus помогали с кодом, проверками, интерфейсом и презентацией.</a:t>
            </a:r>
            <a:endParaRPr lang="en-US" sz="1100" dirty="0"/>
          </a:p>
          <a:p>
            <a:pPr algn="l" indent="0" marL="0">
              <a:lnSpc>
                <a:spcPct val="107000"/>
              </a:lnSpc>
              <a:buNone/>
            </a:pPr>
            <a:r>
              <a:rPr lang="en-US" sz="960" dirty="0">
                <a:solidFill>
                  <a:srgbClr val="F3F6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Команда отвечает за проверку выводов, источников и честное разделение расчётов и полевых результатов.</a:t>
            </a:r>
            <a:endParaRPr lang="en-US" sz="1100" dirty="0"/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1298448"/>
          <a:ext cx="6446519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94329"/>
                <a:gridCol w="3352190"/>
              </a:tblGrid>
              <a:tr h="1143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5F5ED"/>
                          </a:solidFill>
                          <a:latin typeface="Segoe UI"/>
                        </a:rPr>
                        <a:t>Источник</a:t>
                      </a:r>
                    </a:p>
                  </a:txBody>
                  <a:tcPr marL="118872" marR="100584" marT="91440" marB="64008">
                    <a:solidFill>
                      <a:srgbClr val="1D44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5F5ED"/>
                          </a:solidFill>
                          <a:latin typeface="Segoe UI"/>
                        </a:rPr>
                        <a:t>Использование</a:t>
                      </a:r>
                    </a:p>
                  </a:txBody>
                  <a:tcPr marL="118872" marR="100584" marT="91440" marB="64008">
                    <a:solidFill>
                      <a:srgbClr val="1D4435"/>
                    </a:solidFill>
                  </a:tcPr>
                </a:tc>
              </a:tr>
              <a:tr h="1143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634B"/>
                          </a:solidFill>
                          <a:latin typeface="Segoe UI"/>
                          <a:hlinkClick r:id="rId3"/>
                        </a:rPr>
                        <a:t>Казгидромет · материалы 2025 г.</a:t>
                      </a:r>
                    </a:p>
                  </a:txBody>
                  <a:tcPr marL="118872" marR="100584" marT="91440" marB="64008">
                    <a:solidFill>
                      <a:srgbClr val="EEF3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83C2E"/>
                          </a:solidFill>
                          <a:latin typeface="Segoe UI"/>
                        </a:rPr>
                        <a:t>Сеть наблюдений; контекст проблемы</a:t>
                      </a:r>
                    </a:p>
                  </a:txBody>
                  <a:tcPr marL="118872" marR="100584" marT="91440" marB="64008">
                    <a:solidFill>
                      <a:srgbClr val="EEF3E7"/>
                    </a:solidFill>
                  </a:tcPr>
                </a:tc>
              </a:tr>
              <a:tr h="1143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634B"/>
                          </a:solidFill>
                          <a:latin typeface="Segoe UI"/>
                          <a:hlinkClick r:id="rId4"/>
                        </a:rPr>
                        <a:t>Бюро нацстатистики · 2025 г.</a:t>
                      </a:r>
                    </a:p>
                  </a:txBody>
                  <a:tcPr marL="118872" marR="100584" marT="91440" marB="64008">
                    <a:solidFill>
                      <a:srgbClr val="FA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83C2E"/>
                          </a:solidFill>
                          <a:latin typeface="Segoe UI"/>
                        </a:rPr>
                        <a:t>53,7 тыс. т выбросов в Астане</a:t>
                      </a:r>
                    </a:p>
                  </a:txBody>
                  <a:tcPr marL="118872" marR="100584" marT="91440" marB="64008">
                    <a:solidFill>
                      <a:srgbClr val="FAFAF5"/>
                    </a:solidFill>
                  </a:tcPr>
                </a:tc>
              </a:tr>
              <a:tr h="1143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634B"/>
                          </a:solidFill>
                          <a:latin typeface="Segoe UI"/>
                          <a:hlinkClick r:id="rId5"/>
                        </a:rPr>
                        <a:t>Open-Meteo / CAMS · CC BY 4.0</a:t>
                      </a:r>
                    </a:p>
                  </a:txBody>
                  <a:tcPr marL="118872" marR="100584" marT="91440" marB="64008">
                    <a:solidFill>
                      <a:srgbClr val="EEF3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83C2E"/>
                          </a:solidFill>
                          <a:latin typeface="Segoe UI"/>
                        </a:rPr>
                        <a:t>Модельный городской фон воздуха</a:t>
                      </a:r>
                    </a:p>
                  </a:txBody>
                  <a:tcPr marL="118872" marR="100584" marT="91440" marB="64008">
                    <a:solidFill>
                      <a:srgbClr val="EEF3E7"/>
                    </a:solidFill>
                  </a:tcPr>
                </a:tc>
              </a:tr>
              <a:tr h="1143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634B"/>
                          </a:solidFill>
                          <a:latin typeface="Segoe UI"/>
                          <a:hlinkClick r:id="rId6"/>
                        </a:rPr>
                        <a:t>MET Norway · CC BY 4.0</a:t>
                      </a:r>
                    </a:p>
                  </a:txBody>
                  <a:tcPr marL="118872" marR="100584" marT="91440" marB="64008">
                    <a:solidFill>
                      <a:srgbClr val="FA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83C2E"/>
                          </a:solidFill>
                          <a:latin typeface="Segoe UI"/>
                        </a:rPr>
                        <a:t>Резервный прогноз погоды</a:t>
                      </a:r>
                    </a:p>
                  </a:txBody>
                  <a:tcPr marL="118872" marR="100584" marT="91440" marB="64008">
                    <a:solidFill>
                      <a:srgbClr val="FAFAF5"/>
                    </a:solidFill>
                  </a:tcPr>
                </a:tc>
              </a:tr>
              <a:tr h="1143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634B"/>
                          </a:solidFill>
                          <a:latin typeface="Segoe UI"/>
                          <a:hlinkClick r:id="rId7"/>
                        </a:rPr>
                        <a:t>OpenStreetMap · ODbL</a:t>
                      </a:r>
                    </a:p>
                  </a:txBody>
                  <a:tcPr marL="118872" marR="100584" marT="91440" marB="64008">
                    <a:solidFill>
                      <a:srgbClr val="EEF3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83C2E"/>
                          </a:solidFill>
                          <a:latin typeface="Segoe UI"/>
                        </a:rPr>
                        <a:t>Картографическая основа</a:t>
                      </a:r>
                    </a:p>
                  </a:txBody>
                  <a:tcPr marL="118872" marR="100584" marT="91440" marB="64008">
                    <a:solidFill>
                      <a:srgbClr val="EEF3E7"/>
                    </a:solidFill>
                  </a:tcPr>
                </a:tc>
              </a:tr>
              <a:tr h="1143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634B"/>
                          </a:solidFill>
                          <a:latin typeface="Segoe UI"/>
                          <a:hlinkClick r:id="rId8"/>
                        </a:rPr>
                        <a:t>USDA / i-Tree; US EPA</a:t>
                      </a:r>
                    </a:p>
                  </a:txBody>
                  <a:tcPr marL="118872" marR="100584" marT="91440" marB="64008">
                    <a:solidFill>
                      <a:srgbClr val="FAFA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83C2E"/>
                          </a:solidFill>
                          <a:latin typeface="Segoe UI"/>
                        </a:rPr>
                        <a:t>Механизмы оседания пыли и охлаждения</a:t>
                      </a:r>
                    </a:p>
                  </a:txBody>
                  <a:tcPr marL="118872" marR="100584" marT="91440" marB="64008">
                    <a:solidFill>
                      <a:srgbClr val="FAFAF5"/>
                    </a:solidFill>
                  </a:tcPr>
                </a:tc>
              </a:tr>
              <a:tr h="114300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23634B"/>
                          </a:solidFill>
                          <a:latin typeface="Segoe UI"/>
                          <a:hlinkClick r:id="rId9"/>
                        </a:rPr>
                        <a:t>Код ASTRA, JSON и benchmarks</a:t>
                      </a:r>
                    </a:p>
                  </a:txBody>
                  <a:tcPr marL="118872" marR="100584" marT="91440" marB="64008">
                    <a:solidFill>
                      <a:srgbClr val="EEF3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83C2E"/>
                          </a:solidFill>
                          <a:latin typeface="Segoe UI"/>
                        </a:rPr>
                        <a:t>Расчёты, допущения и синтетические проверки</a:t>
                      </a:r>
                    </a:p>
                  </a:txBody>
                  <a:tcPr marL="118872" marR="100584" marT="91440" marB="64008">
                    <a:solidFill>
                      <a:srgbClr val="EEF3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GreenHack Kazakhstan 2026 Submission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ASTRA: выбор участков и расчёт плана городского озеленения</dc:title>
  <dc:subject>Предварительный отбор GreenHack Kazakhstan 2026: ASTRA</dc:subject>
  <dc:creator>ASTRA Project</dc:creator>
  <cp:lastModifiedBy>ASTRA Project</cp:lastModifiedBy>
  <cp:revision>1</cp:revision>
  <dcterms:created xsi:type="dcterms:W3CDTF">2026-10-25T17:55:40Z</dcterms:created>
  <dcterms:modified xsi:type="dcterms:W3CDTF">2026-10-25T17:55:40Z</dcterms:modified>
</cp:coreProperties>
</file>