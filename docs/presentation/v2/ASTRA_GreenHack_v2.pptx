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Деревья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80" b="0" i="0" u="none" strike="noStrike">
                    <a:solidFill>
                      <a:srgbClr val="12281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Туран · западный</c:v>
                </c:pt>
                <c:pt idx="1">
                  <c:v>Республика · северный</c:v>
                </c:pt>
                <c:pt idx="2">
                  <c:v>Абылай хана · восточный</c:v>
                </c:pt>
                <c:pt idx="3">
                  <c:v>Улы Дала · восточный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260.0</c:v>
                </c:pt>
                <c:pt idx="1">
                  <c:v>260.0</c:v>
                </c:pt>
                <c:pt idx="2">
                  <c:v>260.0</c:v>
                </c:pt>
                <c:pt idx="3">
                  <c:v>220.0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9-4504-9935-367A629655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60" b="0" i="0" u="none" strike="noStrike">
                <a:solidFill>
                  <a:srgbClr val="283D33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6B5C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Саженцы и посадка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1-й год (29,8)</c:v>
                </c:pt>
                <c:pt idx="1">
                  <c:v>10 лет (67,6)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</c:v>
                </c:pt>
                <c:pt idx="1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0D-4D2A-8283-3C59D0AEE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Уход и полив</c:v>
                </c:pt>
              </c:strCache>
            </c:strRef>
          </c:tx>
          <c:spPr>
            <a:solidFill>
              <a:srgbClr val="B98B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1-й год (29,8)</c:v>
                </c:pt>
                <c:pt idx="1">
                  <c:v>10 лет (67,6)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3.0</c:v>
                </c:pt>
                <c:pt idx="1">
                  <c:v>30.0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0D-4D2A-8283-3C59D0AEEA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Датчики и программа</c:v>
                </c:pt>
              </c:strCache>
            </c:strRef>
          </c:tx>
          <c:spPr>
            <a:solidFill>
              <a:srgbClr val="7B9B87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1-й год (29,8)</c:v>
                </c:pt>
                <c:pt idx="1">
                  <c:v>10 лет (67,6)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1.8</c:v>
                </c:pt>
                <c:pt idx="1">
                  <c:v>12.6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0D-4D2A-8283-3C59D0AEE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12281F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83D33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PM2.5, мкг/м³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60" b="0" i="0" u="none" strike="noStrike">
                    <a:solidFill>
                      <a:srgbClr val="12281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PM2.5: от текущего уровня</c:v>
                </c:pt>
                <c:pt idx="1">
                  <c:v>PM2.5: ML с поправкой</c:v>
                </c:pt>
                <c:pt idx="2">
                  <c:v>PM2.5: прямая ML-модель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1.9362</c:v>
                </c:pt>
                <c:pt idx="1">
                  <c:v>2.197</c:v>
                </c:pt>
                <c:pt idx="2">
                  <c:v>10.3596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2-4050-B17D-2BA1ABD206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83D33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74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 помогает подготовить предварительный план озеленения Астаны: выбрать участки, распределить деревья и оценить затраты. Веб-приложение уже доступно на трёх языках. Мы разделяем городской фон открытых моделей, собственные расчёты по участкам и будущие полевые измерения.</a:t>
            </a:r>
          </a:p>
          <a:p>
            <a:endParaRPr/>
          </a:p>
          <a:p>
            <a:r>
              <a:t>Источники и проверка: https://astra-n2xd.onrender.com/ ; https://github.com/GL1NoMe5/A.S.T.R.A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 статистике за 2025 год предприятия Астаны выбросили 53,7 тысячи тонн загрязняющих веществ. Это масса выбросов, а не измерение PM2.5 на улице. Для плана посадок нужны также данные о жаре, свободном месте и стоимости. Наши предполагаемые пользователи – службы озеленения; интервью с ними ещё впереди.</a:t>
            </a:r>
          </a:p>
          <a:p>
            <a:endParaRPr/>
          </a:p>
          <a:p>
            <a:r>
              <a:t>Источники и проверка: https://www.gov.kz/uploads/2025/12/11/3b295e70b17e67e6a31f8c302b258d83_original.11515953.pdf ; https://stat.gov.kz/ru/industries/environment/stat-eco/publications/346639/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Приложение получает городской фон Open-Meteo и CAMS, а при сбое погодного канала переключается на MET Norway. На карте 40 расчётных участков. По ним строится прогноз и выбираются места посадок. Вместимость, озеленённость и число жителей пока заданы для сценария, поэтому перед работами требуется обследование.</a:t>
            </a:r>
          </a:p>
          <a:p>
            <a:endParaRPr/>
          </a:p>
          <a:p>
            <a:r>
              <a:t>Источники и проверка: https://open-meteo.com/en/docs/air-quality-api ; https://api.met.no/doc/Locationforecast/2.0/documentation ; app/services/simulator.py ; app/core/pilot_sites.json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сохранённом примере тысяча вязов распределена по четырём участкам без остатка. На горизонте десяти лет модель даёт снижение PM2.5 примерно на 0,032 микрограмма на кубометр и поглощение 18,7 тонны CO₂ в год. При холодном погодном фоне охлаждение равно нулю. Эти значения – расчёт сценария, а не доказанный эффект посадок.</a:t>
            </a:r>
          </a:p>
          <a:p>
            <a:endParaRPr/>
          </a:p>
          <a:p>
            <a:r>
              <a:t>Источники и проверка: example-run-1000-elm.json ; app/ml/optimizer.py ; расчёт 26.10.2026 00:36 UTC+5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Цены доступны для ручной замены. Для тысячи вязов первый год стоит по модели 29,8 миллиона тенге, а десять лет – 67,6 миллиона. План сохраняется на 30 дней: можно сравнить варианты, скачать исходные данные и напечатать отчёт. Это предварительная смета без инфляции и части инфраструктурных расходов.</a:t>
            </a:r>
          </a:p>
          <a:p>
            <a:endParaRPr/>
          </a:p>
          <a:p>
            <a:r>
              <a:t>Источники и проверка: example-run-1000-elm.json ; app/ml/optimizer.py ; app/static/report/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синтетических временных рядах простой прогноз PM2.5 оказался точнее ML-кандидата, поэтому он основной. Для ESI используется машинное обучение. В 36 сценариях распределение снижало пыль сильнее равномерного, но проигрывало по охлаждению в тёплых условиях. Реальные замеры ещё нужны. Программную логику проверяет 81 автотест.</a:t>
            </a:r>
          </a:p>
          <a:p>
            <a:endParaRPr/>
          </a:p>
          <a:p>
            <a:r>
              <a:t>Источники и проверка: benchmarks/pm25/ ; benchmarks/greening/ ; VERIFICATION.md ; docs/verification/acceptance.json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Казгидромет предоставляет официальные наблюдения, а i-Tree – инструменты оценки деревьев. ASTRA объединяет карту Астаны, распределение посадок, сценарный эффект и смету в тенге. Это удобный черновик для специалиста. Мы не заменяем полевые обследования и не заявляем, что такого решения нет нигде в мире.</a:t>
            </a:r>
          </a:p>
          <a:p>
            <a:endParaRPr/>
          </a:p>
          <a:p>
            <a:r>
              <a:t>Источники и проверка: https://www.itreetools.org/tools/i-tree-eco ; https://landscape.itreetools.org/ ; https://www.itreetools.org/all-tools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Смета посадок, бюджет пилота и годовая поддержка – разные расчёты. Для шестинедельного пилота предварительно нужно от 1,13 до 2,71 миллиона тенге. Часть расходов пересекается, поэтому суммы нельзя просто складывать. Подтверждённых заказчиков и финансирования пока нет; демонстрация размещена на бесплатных облачных тарифах.</a:t>
            </a:r>
          </a:p>
          <a:p>
            <a:endParaRPr/>
          </a:p>
          <a:p>
            <a:r>
              <a:t>Источники и проверка: docs/PROJECT_EVIDENCE.md ; docs/HOSTING.md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Следующий шаг – согласовать четыре участка: два для наблюдения за посадками и два контрольных. За шесть недель проверим данные и удобство работы. За сезон начнём оценивать приживаемость и рост кроны. Эффект взрослых деревьев потребует многолетнего наблюдения. Сейчас готовы приложение, расчёты и инструменты отчётности.</a:t>
            </a:r>
          </a:p>
          <a:p>
            <a:endParaRPr/>
          </a:p>
          <a:p>
            <a:r>
              <a:t>Источники и проверка: docs/PROJECT_EVIDENCE.md ; VERIFICATION.md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источников не требует отдельного рассказа. Полный реестр ссылок, формулы и точный JSON приведены рядом с новой версией. Роль ИИ раскрыта явно. Перед подачей команда должна заполнить титульный слайд и проверить материалы организаторов.</a:t>
            </a:r>
          </a:p>
          <a:p>
            <a:endParaRPr/>
          </a:p>
          <a:p>
            <a:r>
              <a:t>Источники и проверка: sources.md ; example-run-1000-elm.json ; app/ml/optimizer.py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v.kz/uploads/2025/12/11/3b295e70b17e67e6a31f8c302b258d83_original.11515953.pdf" TargetMode="External"/><Relationship Id="rId4" Type="http://schemas.openxmlformats.org/officeDocument/2006/relationships/hyperlink" Target="https://stat.gov.kz/ru/industries/environment/stat-eco/publications/346639/" TargetMode="External"/><Relationship Id="rId5" Type="http://schemas.openxmlformats.org/officeDocument/2006/relationships/hyperlink" Target="https://open-meteo.com/en/docs/air-quality-api" TargetMode="External"/><Relationship Id="rId6" Type="http://schemas.openxmlformats.org/officeDocument/2006/relationships/hyperlink" Target="https://api.met.no/doc/Locationforecast/2.0/documentation" TargetMode="External"/><Relationship Id="rId7" Type="http://schemas.openxmlformats.org/officeDocument/2006/relationships/hyperlink" Target="https://www.openstreetmap.org/copyright" TargetMode="External"/><Relationship Id="rId8" Type="http://schemas.openxmlformats.org/officeDocument/2006/relationships/hyperlink" Target="https://www.epa.gov/heatislands/using-trees-and-vegetation-reduce-heat-islands" TargetMode="External"/><Relationship Id="rId9" Type="http://schemas.openxmlformats.org/officeDocument/2006/relationships/hyperlink" Target="https://github.com/GL1NoMe5/A.S.T.R.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897880" y="0"/>
            <a:ext cx="6293815" cy="6858000"/>
          </a:xfrm>
          <a:prstGeom prst="rect">
            <a:avLst/>
          </a:prstGeom>
          <a:solidFill>
            <a:srgbClr val="1C4334"/>
          </a:solidFill>
          <a:ln w="12700">
            <a:solidFill>
              <a:srgbClr val="1C43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7620">
            <a:solidFill>
              <a:srgbClr val="2A55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02920" y="6181344"/>
            <a:ext cx="11201400" cy="0"/>
          </a:xfrm>
          <a:prstGeom prst="line">
            <a:avLst/>
          </a:prstGeom>
          <a:noFill/>
          <a:ln w="7620">
            <a:solidFill>
              <a:srgbClr val="2A55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384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3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GREENHACK KAZAKHSTAN 2026  ·  ПРЕДВАРИТЕЛЬНЫЙ ОТБОР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5820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kern="0" spc="11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51°10′ N · 71°27′ E · АСТАНА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02412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800" b="1" kern="0" spc="25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02920" y="18653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 &amp; Surface Temperature Real-time Analytics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2267712"/>
            <a:ext cx="2011680" cy="0"/>
          </a:xfrm>
          <a:prstGeom prst="line">
            <a:avLst/>
          </a:prstGeom>
          <a:noFill/>
          <a:ln w="2286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02920" y="243230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Помогает выбрать приоритетные места для посадки деревьев, оценить ожидаемый эффект и сразу посчитать смету в тенге.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02920" y="3858768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21792" y="3922776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Направление конкурса: </a:t>
            </a: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Искусственный интеллект и инженерные решения для городской среды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553712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1792" y="4617720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работает: </a:t>
            </a: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Веб-приложение на трёх языках (RU / ҚАЗ / EN) с картой 40 участков Астаны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5248656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21792" y="5312664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Честный подход: </a:t>
            </a: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Отделяем общие данные о воздухе, расчёт модели и будущие уличные замеры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1078992"/>
            <a:ext cx="5559552" cy="3803904"/>
          </a:xfrm>
          <a:prstGeom prst="roundRect">
            <a:avLst>
              <a:gd name="adj" fmla="val 1442"/>
            </a:avLst>
          </a:prstGeom>
          <a:solidFill>
            <a:srgbClr val="265442"/>
          </a:solidFill>
          <a:ln w="9525">
            <a:solidFill>
              <a:srgbClr val="4678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08192" y="1033272"/>
            <a:ext cx="5596128" cy="3767328"/>
          </a:xfrm>
          <a:prstGeom prst="roundRect">
            <a:avLst>
              <a:gd name="adj" fmla="val 1214"/>
            </a:avLst>
          </a:prstGeom>
          <a:solidFill>
            <a:srgbClr val="F5F5ED"/>
          </a:solidFill>
          <a:ln w="11430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Главный экран веб-приложения ASTRA: панорама парка Астаны и сводные показатели городской сред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88136"/>
            <a:ext cx="5486400" cy="3657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08192" y="4974336"/>
            <a:ext cx="5596128" cy="969264"/>
          </a:xfrm>
          <a:prstGeom prst="roundRect">
            <a:avLst>
              <a:gd name="adj" fmla="val 3774"/>
            </a:avLst>
          </a:prstGeom>
          <a:solidFill>
            <a:srgbClr val="16382C"/>
          </a:solidFill>
          <a:ln w="9525">
            <a:solidFill>
              <a:srgbClr val="3365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6254496" y="5056632"/>
            <a:ext cx="5303520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Рабочее приложение: astra-n2xd.onrender.com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Воздух: Open-Meteo / CAMS. Погода: Open-Meteo с резервом MET Norway. Значения по 40 участкам – расчёт модели.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" y="627278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команды для подачи (заполняется участниками): [Название команды · ФИО участников · Организация образования / город]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829800" y="6272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ЭКОЛОГИЧЕСКАЯ ПРОБЛЕМА И КОМУ НУЖЕН ПРОДУКТ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Пыль и летняя жара распределены неравномерно, а бюджет посадок ограничен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02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98448"/>
            <a:ext cx="5779008" cy="987552"/>
          </a:xfrm>
          <a:prstGeom prst="roundRect">
            <a:avLst>
              <a:gd name="adj" fmla="val 3704"/>
            </a:avLst>
          </a:prstGeom>
          <a:solidFill>
            <a:srgbClr val="E7EFE0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1298448"/>
            <a:ext cx="82296" cy="9875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1362456"/>
            <a:ext cx="5486400" cy="8595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что влияет озеленение в городе
</a:t>
            </a: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Мелкая пыль и дым (PM2.5): мельчайшие частицы до 2,5 микрометра, которые проникают глубоко в лёгкие.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Летний перегрев улиц: открытый асфальт вдоль широких дорог сильно нагревается и усиливает духоту.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50545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постов в Астане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публикации 2025 г.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965960" y="2505456"/>
            <a:ext cx="4270248" cy="15361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Посты наблюдают за воздухом, но не составляют план посадок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материалах Казгидромета за 2025 год указано 10 постов в Астане. Наблюдения нужны для проверки моделей. Для плана озеленения дополнительно требуется оценить конкретные участки, свободное место и стоимость работ.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187952"/>
            <a:ext cx="5779008" cy="0"/>
          </a:xfrm>
          <a:prstGeom prst="line">
            <a:avLst/>
          </a:prstGeom>
          <a:noFill/>
          <a:ln w="10160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57200" y="435254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53,7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57200" y="4992624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тыс. тонн в год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предприятия (2025)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965960" y="4352544"/>
            <a:ext cx="4270248" cy="1664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Выбросы </a:t>
            </a:r>
            <a:r>
              <a:rPr lang="en-US" sz="1200" b="1" dirty="0" err="1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предприятий</a:t>
            </a: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отдельный показатель нагрузки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данным Бюро нацстатистики, в 2025 году стационарные источники Астаны выбросили 53,7 тыс. тонн загрязняющих веществ. Это годовая масса выбросов, а не концентрация PM2.5 на улице. Местные условия зависят также от транспорта, застройки и погоды.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2240" y="1298448"/>
            <a:ext cx="5239512" cy="4901184"/>
          </a:xfrm>
          <a:prstGeom prst="roundRect">
            <a:avLst>
              <a:gd name="adj" fmla="val 933"/>
            </a:avLst>
          </a:prstGeom>
          <a:solidFill>
            <a:srgbClr val="15362A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748272" y="15179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2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КОМУ ПОМОГАЕТ ASTRA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48272" y="1792224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Будущие пользователи: службы озеленения и проектировщики. Потребность предстоит проверить на интервью.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48272" y="2487168"/>
            <a:ext cx="4709160" cy="0"/>
          </a:xfrm>
          <a:prstGeom prst="line">
            <a:avLst/>
          </a:prstGeom>
          <a:noFill/>
          <a:ln w="10160">
            <a:solidFill>
              <a:srgbClr val="2E5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748272" y="2633472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42048" y="2606040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Где сажать деревья в первую очередь?
</a:t>
            </a: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Быстро сравнить загруженные проспекты, жилые кварталы и парки по запылённости и летнему нагреву.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48272" y="3493008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42048" y="3465576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Сколько саженцев закладывать в план?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Учесть сценарный лимит участка. Фактические места, почву и подземные сети затем проверяет специалист на улице.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48272" y="4352544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42048" y="4325112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Какую породу выбрать и на какой срок?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Сравнить вяз, сосну и тополь на горизонте 1–30 лет. В модели взрослая крона формируется к 10-му году.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48272" y="5212080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42048" y="5184648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обосновать расходы на согласовании?
</a:t>
            </a: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Сразу показать стоимость посадки в первый год, затраты на уход и выгрузить готовый отчёт.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РАБОТАЕТ ПРИЛОЖЕНИЕ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Пять шагов: от погодного фона до плана посадок и сметы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03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48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1 · ПОГОДА И ФОН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/ CAMS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Резерв погоды: MET Norway; опрос раз в 5 мин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87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834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2 · КАРТА 40 ЗОН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 по участкам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групп территорий · сценарные трафик и зелень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73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120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3 · ПРОГНОЗ +3 Ч
</a:t>
            </a: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Воздух и нагрузка
</a:t>
            </a: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пыли PM2.5 и индекса общей нагрузки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59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406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4 · ОТБОР УЛИЦ
</a:t>
            </a: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Очерёдность и лимит
</a:t>
            </a: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Пыль, жара выше +25 °C и число посадочных мест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445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601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15362A"/>
          </a:solidFill>
          <a:ln w="9525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9692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5 · ГОТОВЫЙ ПЛАН
</a:t>
            </a:r>
            <a:r>
              <a:rPr lang="en-US" sz="112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Порода и смета в ₸
</a:t>
            </a: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Хранение 30 дней, сравнение и печатный PDF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" y="2304288"/>
            <a:ext cx="5843016" cy="393192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1430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Карта 40 участков Астаны на подложке OpenStreetMap с открытой карточкой проспекта Республики и прогнозом через 3 час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359152"/>
            <a:ext cx="5733288" cy="382219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537960" y="2304288"/>
            <a:ext cx="5193792" cy="2048256"/>
          </a:xfrm>
          <a:prstGeom prst="roundRect">
            <a:avLst>
              <a:gd name="adj" fmla="val 1786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6537960" y="2304288"/>
            <a:ext cx="82296" cy="2048256"/>
          </a:xfrm>
          <a:prstGeom prst="rect">
            <a:avLst/>
          </a:prstGeom>
          <a:solidFill>
            <a:srgbClr val="936930"/>
          </a:solidFill>
          <a:ln w="12700">
            <a:solidFill>
              <a:srgbClr val="9369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6720840" y="2377440"/>
            <a:ext cx="4892040" cy="19019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Откуда берутся данные на карте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Воздух – модель Open-Meteo / CAMS с сеткой около 45 км; </a:t>
            </a:r>
            <a:r>
              <a:rPr lang="en-US" sz="1020" b="1" dirty="0" err="1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погода</a:t>
            </a:r>
            <a:r>
              <a:rPr lang="en-US" sz="10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Open-Meteo или MET Norway. При сбое используется кэш либо явно отмеченный резервный фон.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2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На карте 40 расчётных участков у реальных улиц. Это не физические датчики. Вместимость 180–650 деревьев на участок – допущение, которое требует обследования.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37960" y="4480560"/>
            <a:ext cx="5193792" cy="1755648"/>
          </a:xfrm>
          <a:prstGeom prst="roundRect">
            <a:avLst>
              <a:gd name="adj" fmla="val 2083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693408" y="4553712"/>
            <a:ext cx="4901184" cy="16093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понимать показатели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1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ESI, 0–100: собственный индекс нагрузки – пыль PM2.5 (50%), NO₂ (20%) и нагрев поверхности (30%). Это сценарный показатель, а не медицинский норматив.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1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Озеленённость NDVI, трафик и число жителей по участкам заданы для сценария. Они не получены из локальных датчиков или свежих спутниковых измерений.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СЦЕНАРНЫЙ ПРИМЕР ИЗ РАБОТАЮЩЕГО ПРИЛОЖЕНИЯ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 расчёта: 1 000 вязов распределены по 4 проспектам без остатка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04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43584"/>
            <a:ext cx="11274552" cy="402336"/>
          </a:xfrm>
          <a:prstGeom prst="roundRect">
            <a:avLst>
              <a:gd name="adj" fmla="val 9091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03504" y="1271016"/>
            <a:ext cx="10972800" cy="3474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 26.10.2026:  1 000 вязов · 10 лет · приживаемость 85% · крона 25 м² · погода +0,4 °C · городской фон PM2.5: 12,1 мкг/м³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492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1430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457200" y="5632704"/>
            <a:ext cx="5349240" cy="3840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" i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сохранённого плана от 26.10.2026, 00:36 (UTC+5). Точный JSON приложен к новой версии презентации.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5989320" y="1773936"/>
            <a:ext cx="5742432" cy="2176272"/>
          </a:xfrm>
          <a:prstGeom prst="roundRect">
            <a:avLst>
              <a:gd name="adj" fmla="val 1681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6144768" y="18470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Куда программа направила 1 000 деревьев (лимит 260 мест на участок)</a:t>
            </a:r>
            <a:endParaRPr lang="en-US" sz="108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080760" y="2103120"/>
          <a:ext cx="5532120" cy="1773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3"/>
          <p:cNvSpPr/>
          <p:nvPr/>
        </p:nvSpPr>
        <p:spPr>
          <a:xfrm>
            <a:off x="5989320" y="4059936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6080760" y="4105656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−0,032 мкг/м³ PM2.5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14,152 → 14,120 мкг/м³ (−0,22%)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Среднее снижение мелкой пыли по четырём выбранным участкам.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06256" y="4059936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8997696" y="4105656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18,7 т CO₂ в год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10-му году · 850 живых вязов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площадь кроны – 21 250 м². В расчёте – 22 кг CO₂ на дерево в год.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989320" y="5148072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6080760" y="5193792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0,00 °C охлаждение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 погодном фоне +0,4 °C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прохладную погоду охлаждение от тени в модели равно нулю.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06256" y="5148072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8997696" y="5193792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8 800 жителей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Расчётный охват четырёх участков</a:t>
            </a:r>
            <a:endParaRPr lang="en-US" sz="11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Число жителей соседних жилых зон, учтённых в плане посадок.</a:t>
            </a:r>
            <a:endParaRPr lang="en-US" sz="1100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12064" y="1828800"/>
          <a:ext cx="5239511" cy="368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1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5ED"/>
                          </a:solidFill>
                          <a:latin typeface="Segoe UI"/>
                        </a:rPr>
                        <a:t>Сохранённый план</a:t>
                      </a:r>
                    </a:p>
                  </a:txBody>
                  <a:tcPr marL="118872" marR="100584" marT="91440" marB="64008">
                    <a:solidFill>
                      <a:srgbClr val="1D44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5ED"/>
                          </a:solidFill>
                          <a:latin typeface="Segoe UI"/>
                        </a:rPr>
                        <a:t>Деревья</a:t>
                      </a:r>
                    </a:p>
                  </a:txBody>
                  <a:tcPr marL="118872" marR="100584" marT="91440" marB="64008">
                    <a:solidFill>
                      <a:srgbClr val="1D4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Туран · западный коридор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260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Республика · северный коридор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260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Абылай хана · восточный участок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260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Улы Дала · восточный участок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220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Итого / не распределено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C2E"/>
                          </a:solidFill>
                          <a:latin typeface="Segoe UI"/>
                        </a:rPr>
                        <a:t>1 000 / 0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 ПОСАДОК, СРАВНЕНИЕ ВАРИАНТОВ И ОТЧЁТ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 понятна по каждой строке, а варианты плана легко сравнить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05 / 10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303520" cy="2368296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Статья расходов (1 000 вязов)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Расценка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1-й 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 10 лет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Саженцы вяза (1 000 шт.)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15 000 ₸/шт.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Работы по посадке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10 000 ₸/шт.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Ежегодный уход и полив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3 000 ₸/шт./год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Датчики контроля для пилота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разово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Поддержка программы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 млн ₸/год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228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ИТОГО по плану посадок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dirty="0">
                          <a:solidFill>
                            <a:srgbClr val="526B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можно менять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29,8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80" b="1" dirty="0">
                          <a:solidFill>
                            <a:srgbClr val="9369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950208"/>
            <a:ext cx="5303520" cy="2267712"/>
          </a:xfrm>
          <a:prstGeom prst="roundRect">
            <a:avLst>
              <a:gd name="adj" fmla="val 1613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03504" y="402336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чего складываются затраты: посадка и 10 лет ухода (млн ₸)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66928" y="4279392"/>
          <a:ext cx="5084064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9"/>
          <p:cNvSpPr/>
          <p:nvPr/>
        </p:nvSpPr>
        <p:spPr>
          <a:xfrm>
            <a:off x="603504" y="5705856"/>
            <a:ext cx="5010912" cy="4389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Стартовые ориентировочные цены (любую цифру можно поменять вручную). Не включают инфляцию, прокладку труб полива и замену погибших саженцев.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961888" y="1298448"/>
            <a:ext cx="5769864" cy="2304288"/>
          </a:xfrm>
          <a:prstGeom prst="roundRect">
            <a:avLst>
              <a:gd name="adj" fmla="val 177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/>
          <p:cNvSpPr/>
          <p:nvPr/>
        </p:nvSpPr>
        <p:spPr>
          <a:xfrm>
            <a:off x="6144768" y="1389888"/>
            <a:ext cx="5404104" cy="21214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Архив и сравнение вариантов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Сохранить расчёт вместе с параметрами, фоном и распределением.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Выбрать два плана в архиве и сравнить эффект и стоимость.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Скачать JSON, чтобы сохранить точные исходные данные.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Планы доступны 30 дней. Для сравнения вариантов нужен одинаковый исходный фон; изменение погоды тоже влияет на результат.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961888" y="3767328"/>
            <a:ext cx="5769864" cy="2432304"/>
          </a:xfrm>
          <a:prstGeom prst="roundRect">
            <a:avLst>
              <a:gd name="adj" fmla="val 2162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5"/>
          <p:cNvSpPr/>
          <p:nvPr/>
        </p:nvSpPr>
        <p:spPr>
          <a:xfrm>
            <a:off x="6144768" y="3858768"/>
            <a:ext cx="5404104" cy="22494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Отчёт, который можно проверить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Параметры сценария → распределение по участкам → эффект → смета.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отдельной странице указаны источники данных, время и ограничения модели. JSON содержит точные числа. Кнопка печати открывает стандартный диалог браузера для сохранения отчёта в PDF.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ПРОВЕРЕНО И ЧТО ОЗНАЧАЮТ РЕЗУЛЬТАТЫ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Проверки на синтетических данных: результат и ограничения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06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5440680" cy="4937760"/>
          </a:xfrm>
          <a:prstGeom prst="roundRect">
            <a:avLst>
              <a:gd name="adj" fmla="val 741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21792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Как мы выбирали прогноз на 3 часа вперёд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21792" y="1664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6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PM2.5: средняя ошибка MAE на 3 временных блоках по 640 записей, seed=42. Единицы – мкг/м³; меньше – лучше.</a:t>
            </a:r>
            <a:endParaRPr lang="en-US" sz="96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85216" y="2048256"/>
          <a:ext cx="5175504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621792" y="4590288"/>
            <a:ext cx="5111496" cy="1481328"/>
          </a:xfrm>
          <a:prstGeom prst="roundRect">
            <a:avLst>
              <a:gd name="adj" fmla="val 2469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4626864"/>
            <a:ext cx="4892040" cy="14081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определило выбор моделей: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PM2.5: прогноз от текущего уровня лучше ML-кандидата, поэтому он основной.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ESI: ошибка 1,22 против 1,86 у базы на отдельном известном контроле (1 000 записей).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SHAP объясняет ML-модели; основной PM-прогноз объясняется правилом. Точность на реальных данных Астаны ещё не проверена.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08192" y="1280160"/>
            <a:ext cx="5623560" cy="2944368"/>
          </a:xfrm>
          <a:prstGeom prst="roundRect">
            <a:avLst>
              <a:gd name="adj" fmla="val 1242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272784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Распределение деревьев: 36 синтетических сценариев</a:t>
            </a:r>
            <a:endParaRPr lang="en-US" sz="114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755648"/>
          <a:ext cx="5294376" cy="1463040"/>
        </p:xfrm>
        <a:graphic>
          <a:graphicData uri="http://schemas.openxmlformats.org/drawingml/2006/table">
            <a:tbl>
              <a:tblPr/>
              <a:tblGrid>
                <a:gridCol w="337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Показатель модели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ASTRA против раздачи поровну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Собственная эвристическая цель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Выше в 36 из 36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Среднее снижение PM2.5 по площади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Выше в 36 из 36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Охлаждение в 24 тёплых сценариях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9369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Ниже в 24; в 12 холодных – 0 у обоих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6272784" y="3419856"/>
            <a:ext cx="5294376" cy="7132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Сравнивались одни и те же выбранные участки с одинаковыми лимитами. Средние здесь рассчитаны по всем 40 зонам, включая зоны без посадок. Улучшение собственной цели не доказывает общий экологический выигрыш в городе.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6108192" y="4370832"/>
            <a:ext cx="5623560" cy="1847088"/>
          </a:xfrm>
          <a:prstGeom prst="roundRect">
            <a:avLst>
              <a:gd name="adj" fmla="val 1980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6291072" y="44805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Проверка надёжности самой программы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91072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6345936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теста расчётов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сервера Python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626096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7680960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тестов интерфейса,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отчёта и языков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961120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9015984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640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записей за 31,76 с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прежней приёмке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296144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10351008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сохранился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обновления</a:t>
            </a:r>
            <a:endParaRPr lang="en-US" sz="11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облачного сервера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С СУЩЕСТВУЮЩИМИ ИНСТРУМЕНТАМИ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Чем ASTRA полезна на фоне существующих решений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07 / 10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Что сравниваем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Карты Казгидромета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Семейство i-Tree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Прототип ASTRA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Основная задача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Официальное наблюдение за воздухом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Оценка структуры и пользы деревьев; приоритетов посадок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228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Предварительный план посадок и смета для Астаны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Исходные данные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Государственная сеть постов и наблюдения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Eco: инвентаризация или полевые данные; Landscape: слои США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Городской модельный фон и 40 сценарных участков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Адаптация к местной задаче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Наблюдения служат опорой для проверки моделей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Требуется выбор инструмента и местная адаптация входных данных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Сценарные лимиты 180–650 деревьев и редактируемые цены в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Результат работы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Карты текущих и архивных наблюдений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Оценки экосистемных услуг; отчёты зависят от инструмента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Сохранение, сравнение, JSON и печатный отчёт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Практическая роль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Проверенные измерения окружающей среды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Подробная оценка при наличии подходящих данных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Черновик плана; три языка; проверка на месте обязательна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285232"/>
            <a:ext cx="11274552" cy="914400"/>
          </a:xfrm>
          <a:prstGeom prst="roundRect">
            <a:avLst>
              <a:gd name="adj" fmla="val 4000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457200" y="5285232"/>
            <a:ext cx="91440" cy="914400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676656" y="5358384"/>
            <a:ext cx="10881360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2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Отличие ASTRA – единый рабочий процесс для Астаны: сравнить участки, распределить деревья, оценить сценарный эффект и расходы в тенге. Это гипотеза удобства для специалистов; она ещё требует интервью. Программа не заменяет официальные замеры и обследование места посадки.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ПОЛЬЗОВАТЕЛИ, ФИНАНСИРОВАНИЕ И СТРУКТУРА РАСХОДОВ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будет пользоваться сервисом и как разделены три вида затрат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08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5468112" cy="1664208"/>
          </a:xfrm>
          <a:prstGeom prst="roundRect">
            <a:avLst>
              <a:gd name="adj" fmla="val 2198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546811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21792" y="1389888"/>
            <a:ext cx="5138928" cy="14813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кого предназначен прототип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Городские службы экологии и озеленения.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Проектировщики и подрядчики при подготовке районных планов.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Исследователи и экологические команды.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Пользовательские интервью и спрос пока не подтверждены.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44768" y="1280160"/>
            <a:ext cx="5586984" cy="1664208"/>
          </a:xfrm>
          <a:prstGeom prst="roundRect">
            <a:avLst>
              <a:gd name="adj" fmla="val 219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144768" y="1280160"/>
            <a:ext cx="5586984" cy="64008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09360" y="1389888"/>
            <a:ext cx="5257800" cy="14813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Возможные заказчики и развитие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Настройка под район и сопровождение по договору с оператором озеленения.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Пилот через грант или партнёрскую программу.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нет подтверждённых клиентов, выручки и финансирования. Условия данных и API для коммерческого запуска нужно проверить отдельно.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85216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БЮДЖЕТ САМИХ ПОСАДОК
</a:t>
            </a:r>
            <a:r>
              <a:rPr lang="en-US" sz="190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29,8 млн ₸
</a:t>
            </a: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1-й год · 67,6 млн ₸ за 10 лет
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Ориентировочная смета озеленения в приложении на примере 1 000 вязов: саженцы 15,0 млн, посадка 10,0 млн, уход 3,0 млн в год, а также базовые строки на датчики (0,6 млн) и поддержку программы (1,2 млн в год).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88536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416552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ПИЛОТНАЯ ПРОВЕРКА (6 НЕДЕЛЬ)
</a:t>
            </a:r>
            <a:r>
              <a:rPr lang="en-US" sz="19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1,13–2,71 млн ₸
</a:t>
            </a: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предварительная оценка (с запасом 15%)
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точности данных и удобства работы на 4 участках: инженер данных (80–120 ч), эколог (24–40 ч), тесты со специалистами (24–40 ч), аренда 4 датчиков пыли на 2 мес. и сверка с постом. Без цены деревьев.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19872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247888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ПОДДЕРЖКА СЕРВИСА ЗА ГОД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0,74–2,32 млн ₸/год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плановый бюджет после пилота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Сервер, резервные копии, поддержка (8–16 ч/мес.) и контроль данных (4–8 ч/мес.), до налогов и платных тарифов. Текущая демонстрация работает на бесплатных Render и Neon; это не её фактические расходы.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5724144"/>
            <a:ext cx="11274552" cy="493776"/>
          </a:xfrm>
          <a:prstGeom prst="roundRect">
            <a:avLst>
              <a:gd name="adj" fmla="val 7407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621792" y="5769864"/>
            <a:ext cx="10954512" cy="402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Важно: эти три суммы НЕ складываются напрямую, так как смета посадок уже включает базовые расходы на датчики (0,6 млн ₸) и поддержку программы (1,2 млн ₸/год).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ПИЛОТА, ПОЛЕВАЯ ПРОВЕРКА ЭФФЕКТА И СЛЕДУЮЩИЙ ШАГ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пилота на 4 участках: от сверки датчиков до сезонных замеров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09 / 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6967728" cy="2816352"/>
          </a:xfrm>
          <a:prstGeom prst="roundRect">
            <a:avLst>
              <a:gd name="adj" fmla="val 1299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967728" cy="384048"/>
          </a:xfrm>
          <a:prstGeom prst="roundRect">
            <a:avLst>
              <a:gd name="adj" fmla="val 714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03504" y="1316736"/>
            <a:ext cx="6675120" cy="3108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1 · 6 НЕДЕЛЬ · ПРОВЕРКА ДАННЫХ И УДОБСТВА РАБОТЫ (2 УЧАСТКА ПОСАДКИ + 2 КОНТРОЛЯ)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21792" y="1810512"/>
            <a:ext cx="128016" cy="530352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59536" y="1755648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Недели 1–2 · Встречи и сверка приборов
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 рабочих встреч со специалистами озеленения, выбор 2 пар похожих участков в Астане и сверка недорогих датчиков пыли рядом с постом Казгидромета.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" y="2560320"/>
            <a:ext cx="128016" cy="530352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59536" y="2505456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Недели 3–5 · Замеры на улицах
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Непрерывная запись пыли PM2.5 и замеры нагрева покрытий в одни и те же часы, уточнение числа мест под лунки и реальных цен местных питомников.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" y="3310128"/>
            <a:ext cx="128016" cy="530352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59536" y="3255264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6 · Проверка точности и удобства
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прогноза программы с реальными уличными замерами, тестовый подбор участков вместе со специалистами и итоговый отчёт по пилоту.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6967728" cy="1975104"/>
          </a:xfrm>
          <a:prstGeom prst="roundRect">
            <a:avLst>
              <a:gd name="adj" fmla="val 1852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57200" y="4242816"/>
            <a:ext cx="6967728" cy="384048"/>
          </a:xfrm>
          <a:prstGeom prst="roundRect">
            <a:avLst>
              <a:gd name="adj" fmla="val 7143"/>
            </a:avLst>
          </a:prstGeom>
          <a:solidFill>
            <a:srgbClr val="936930"/>
          </a:solidFill>
          <a:ln w="12700">
            <a:solidFill>
              <a:srgbClr val="9369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03504" y="4279392"/>
            <a:ext cx="6675120" cy="3108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 · ПОЛНЫЙ ТЁПЛЫЙ СЕЗОН · ПРОВЕРКА РЕАЛЬНОГО ЭФФЕКТА ПОСАЖЕННЫХ ДЕРЕВЬЕВ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21792" y="4700016"/>
            <a:ext cx="6656832" cy="14447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 6 недель проверяем данные и рабочий процесс. За тёплый сезон начинаем наблюдение за саженцами: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Приживаемость по породам и фактический прирост кроны.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PM2.5 и нагрев «до и после» относительно контрольных улиц с учётом погоды.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Уточнение параметров модели. Эффект взрослых деревьев на горизонте 10 лет требует многолетних наблюдений; один сезон его не докажет.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35240" y="1280160"/>
            <a:ext cx="4096512" cy="4937760"/>
          </a:xfrm>
          <a:prstGeom prst="roundRect">
            <a:avLst>
              <a:gd name="adj" fmla="val 1116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863840" y="1463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b="1" kern="0" spc="11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ГОТОВО СЕЙЧАС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7863840" y="1755648"/>
            <a:ext cx="3657600" cy="18470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Приложение доступно онлайн: Render + PostgreSQL в Neon</a:t>
            </a:r>
            <a:endParaRPr lang="en-US" sz="99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40 расчётных участков; живой городской фон воздуха и погоды</a:t>
            </a:r>
            <a:endParaRPr lang="en-US" sz="99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План посадок, прогноз +3 ч, смета и объяснения</a:t>
            </a:r>
            <a:endParaRPr lang="en-US" sz="99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Архив 30 дней, сравнение, JSON и печать в PDF</a:t>
            </a:r>
            <a:endParaRPr lang="en-US" sz="99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Три языка и 81 пройденный автотест</a:t>
            </a:r>
            <a:endParaRPr lang="en-US" sz="990" dirty="0"/>
          </a:p>
        </p:txBody>
      </p:sp>
      <p:sp>
        <p:nvSpPr>
          <p:cNvPr id="26" name="Shape 23"/>
          <p:cNvSpPr/>
          <p:nvPr/>
        </p:nvSpPr>
        <p:spPr>
          <a:xfrm>
            <a:off x="7863840" y="3730752"/>
            <a:ext cx="3657600" cy="0"/>
          </a:xfrm>
          <a:prstGeom prst="line">
            <a:avLst/>
          </a:prstGeom>
          <a:noFill/>
          <a:ln w="11430">
            <a:solidFill>
              <a:srgbClr val="3568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786384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b="1" kern="0" spc="11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ШАГ ДЛЯ СТАРТА ПИЛОТА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7863840" y="4169664"/>
            <a:ext cx="3657600" cy="18105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нужно для запуска Этапа 1:
</a:t>
            </a: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Согласовать 4 пилотных участка со службой озеленения Астаны.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Получить архивные данные городских постов для настройки прогноза.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Поддержать бюджет 6-недельной проверки: 1,13–2,71 млн ₸ (предварительная оценка).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25400" rIns="254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1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ИСТОЧНИКИ, ОГРАНИЧЕНИЯ И РОЛЬ ИИ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464040" y="219456"/>
            <a:ext cx="2267712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50800" rIns="50800" bIns="127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ВЕРСИЯ · 26.10.2026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чём основаны данные и </a:t>
            </a:r>
            <a:r>
              <a:rPr lang="ru-RU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границы </a:t>
            </a: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точност</a:t>
            </a:r>
            <a:r>
              <a:rPr lang="ru-RU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</a:t>
            </a: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модели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10 / 10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086600" y="1298448"/>
            <a:ext cx="4645152" cy="2084832"/>
          </a:xfrm>
          <a:prstGeom prst="roundRect">
            <a:avLst>
              <a:gd name="adj" fmla="val 1754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242048" y="1408176"/>
            <a:ext cx="4334256" cy="18653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4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Границы точности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Участки, вместимость, озеленённость и </a:t>
            </a:r>
            <a:r>
              <a:rPr lang="en-US" sz="960" dirty="0" err="1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жители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сценарные данные, а не сеть датчиков.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Параметры пород и цены предварительные. Эффект посадок в Астане не измерен.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Прогноз проверен на синтетике. Диапазон ×0,5–1,5 –</a:t>
            </a:r>
            <a:r>
              <a:rPr lang="ru-RU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60" dirty="0" err="1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чувствительность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не вероятность.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Полные ссылки и точный </a:t>
            </a:r>
            <a:r>
              <a:rPr lang="en-US" sz="960" dirty="0" err="1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</a:t>
            </a: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в sources.md и приложенном JSON.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547872"/>
            <a:ext cx="4645152" cy="2633472"/>
          </a:xfrm>
          <a:prstGeom prst="roundRect">
            <a:avLst>
              <a:gd name="adj" fmla="val 1389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086600" y="3547872"/>
            <a:ext cx="82296" cy="2633472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278624" y="3639312"/>
            <a:ext cx="4297680" cy="24505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2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использовался ИИ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 ASTRA: LightGBM для ESI и экспериментального прогноза PM2.5; SHAP для объяснения ML. Основной прогноз PM2.5 – от текущего уровня.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ИИ-помощники Codex, Gemini/Argon и Opus помогали с кодом, проверками, </a:t>
            </a:r>
            <a:r>
              <a:rPr lang="en-US" sz="960" dirty="0" err="1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интерфейсом</a:t>
            </a: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Команда отвечает за проверку выводов, источников и честное разделение расчётов и полевых результатов.</a:t>
            </a:r>
            <a:endParaRPr lang="en-US" sz="11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298448"/>
          <a:ext cx="6446519" cy="2958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5F5ED"/>
                          </a:solidFill>
                          <a:latin typeface="Segoe UI"/>
                        </a:rPr>
                        <a:t>Источник</a:t>
                      </a:r>
                    </a:p>
                  </a:txBody>
                  <a:tcPr marL="118872" marR="100584" marT="91440" marB="64008">
                    <a:solidFill>
                      <a:srgbClr val="1D44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5F5ED"/>
                          </a:solidFill>
                          <a:latin typeface="Segoe UI"/>
                        </a:rPr>
                        <a:t>Использование</a:t>
                      </a:r>
                    </a:p>
                  </a:txBody>
                  <a:tcPr marL="118872" marR="100584" marT="91440" marB="64008">
                    <a:solidFill>
                      <a:srgbClr val="1D4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3"/>
                        </a:rPr>
                        <a:t>Казгидромет · материалы 2025 г.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Сеть наблюдений; контекст проблемы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4"/>
                        </a:rPr>
                        <a:t>Бюро нацстатистики · 2025 г.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53,7 тыс. т выбросов в Астане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5"/>
                        </a:rPr>
                        <a:t>Open-Meteo / CAMS · CC BY 4.0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Модельный городской фон воздуха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6"/>
                        </a:rPr>
                        <a:t>MET Norway · CC BY 4.0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Резервный прогноз погоды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7"/>
                        </a:rPr>
                        <a:t>OpenStreetMap · ODbL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Картографическая основа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8"/>
                        </a:rPr>
                        <a:t>USDA / i-Tree; US EPA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Механизмы оседания пыли и охлаждения</a:t>
                      </a:r>
                    </a:p>
                  </a:txBody>
                  <a:tcPr marL="118872" marR="100584" marT="91440" marB="64008">
                    <a:solidFill>
                      <a:srgbClr val="FA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634B"/>
                          </a:solidFill>
                          <a:latin typeface="Segoe UI"/>
                          <a:hlinkClick r:id="rId9"/>
                        </a:rPr>
                        <a:t>Код ASTRA, JSON и benchmarks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3C2E"/>
                          </a:solidFill>
                          <a:latin typeface="Segoe UI"/>
                        </a:rPr>
                        <a:t>Расчёты, допущения и синтетические проверки</a:t>
                      </a:r>
                    </a:p>
                  </a:txBody>
                  <a:tcPr marL="118872" marR="100584" marT="91440" marB="64008"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3244</Words>
  <Application>Microsoft Office PowerPoint</Application>
  <PresentationFormat>Широкоэкранный</PresentationFormat>
  <Paragraphs>319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GreenHack Kazakhstan 2026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ASTRA: выбор участков и расчёт плана городского озеленения</dc:title>
  <dc:subject>Предварительный отбор GreenHack Kazakhstan 2026: ASTRA</dc:subject>
  <dc:creator>ASTRA Project</dc:creator>
  <cp:lastModifiedBy>Эмир Токсанов</cp:lastModifiedBy>
  <cp:revision>6</cp:revision>
  <dcterms:created xsi:type="dcterms:W3CDTF">2026-10-25T17:55:40Z</dcterms:created>
  <dcterms:modified xsi:type="dcterms:W3CDTF">2026-10-25T20:52:25Z</dcterms:modified>
</cp:coreProperties>
</file>