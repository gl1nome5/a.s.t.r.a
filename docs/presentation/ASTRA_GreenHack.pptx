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Деревьев, шт.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80" u="none">
                    <a:solidFill>
                      <a:srgbClr val="1228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пр. Республики, сев. (Байконыр)</c:v>
                  </c:pt>
                  <c:pt idx="1">
                    <c:v>пр. Сарыарка, сев. (Сарыарка)</c:v>
                  </c:pt>
                  <c:pt idx="2">
                    <c:v>пр. Улы Дала, вост. (Есиль)</c:v>
                  </c:pt>
                  <c:pt idx="3">
                    <c:v>Привокзальный узел (Сарыарка)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</c:v>
                </c:pt>
                <c:pt idx="1">
                  <c:v>260</c:v>
                </c:pt>
                <c:pt idx="2">
                  <c:v>260</c:v>
                </c:pt>
                <c:pt idx="3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80" u="none">
                  <a:solidFill>
                    <a:srgbClr val="1228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60" b="0" i="0" u="none" strike="noStrike">
                <a:solidFill>
                  <a:srgbClr val="283D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b"/>
        <c:majorGridlines>
          <c:spPr>
            <a:ln w="6350" cap="flat">
              <a:solidFill>
                <a:srgbClr val="CFDA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2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Саженцы и посадка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1-й год (29,8)</c:v>
                  </c:pt>
                  <c:pt idx="1">
                    <c:v>10 лет (67,6)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Уход и полив</c:v>
                </c:pt>
              </c:strCache>
            </c:strRef>
          </c:tx>
          <c:spPr>
            <a:solidFill>
              <a:srgbClr val="B98B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1-й год (29,8)</c:v>
                  </c:pt>
                  <c:pt idx="1">
                    <c:v>10 лет (67,6)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Датчики и программа</c:v>
                </c:pt>
              </c:strCache>
            </c:strRef>
          </c:tx>
          <c:spPr>
            <a:solidFill>
              <a:srgbClr val="7B9B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1-й год (29,8)</c:v>
                  </c:pt>
                  <c:pt idx="1">
                    <c:v>10 лет (67,6)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1.8</c:v>
                </c:pt>
                <c:pt idx="1">
                  <c:v>12.6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80" b="0" i="0" u="none" strike="noStrike">
                <a:solidFill>
                  <a:srgbClr val="1228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b"/>
        <c:majorGridlines>
          <c:spPr>
            <a:ln w="6350" cap="flat">
              <a:solidFill>
                <a:srgbClr val="CFDA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283D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Средняя ошибка (меньше = точнее)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60" u="none">
                    <a:solidFill>
                      <a:srgbClr val="1228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PM2.5: от текущего уровня (выбран)</c:v>
                  </c:pt>
                  <c:pt idx="1">
                    <c:v>PM2.5: ML-модель с поправкой</c:v>
                  </c:pt>
                  <c:pt idx="2">
                    <c:v>PM2.5: прямая ML-модель</c:v>
                  </c:pt>
                  <c:pt idx="3">
                    <c:v>Индекс ESI: ML-модель (выбрана)</c:v>
                  </c:pt>
                  <c:pt idx="4">
                    <c:v>Индекс ESI: от текущего уровня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1.94</c:v>
                </c:pt>
                <c:pt idx="1">
                  <c:v>2.2</c:v>
                </c:pt>
                <c:pt idx="2">
                  <c:v>10.36</c:v>
                </c:pt>
                <c:pt idx="3">
                  <c:v>1.22</c:v>
                </c:pt>
                <c:pt idx="4">
                  <c:v>1.86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60" u="none">
                  <a:solidFill>
                    <a:srgbClr val="1228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83D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.5"/>
          <c:min val="0"/>
        </c:scaling>
        <c:delete val="0"/>
        <c:axPos val="b"/>
        <c:majorGridlines>
          <c:spPr>
            <a:ln w="6350" cap="flat">
              <a:solidFill>
                <a:srgbClr val="CFDACA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[0:00–0:14 | 14 с] Здравствуйте! Мы представляем ASTRA: веб-приложение для предварительного планирования городского озеленения на примере Астаны. Оно помогает специалисту сравнить городские участки, распределить бюджет посадки деревьев, оценить ожидаемый эффект и сразу собрать понятную смету.
Подсказка: видеоролик предварительного отбора ограничен 3 минутами (п. 6.8–6.9 Положения). Поле команды внизу слайда заполняется реальными участниками перед подачей.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[0:14–0:34 | 20 с] Мелкая пыль и частицы дыма PM2.5, а летом и сильный нагрев асфальта распределены по улицам неравномерно. В Астане работает десять постов Казгидромета, и в две тысячи двадцать пятом году сама служба отмечала, что сеть нужно обновлять из-за плотной застройки вокруг станций. При ограниченном бюджете городу нужен понятный ответ: где сажать деревья в первую очередь и какой породы.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[0:34–0:56 | 22 с] ASTRA решает эту задачу за пять простых шагов. Каждые пять минут сервис получает данные о погоде и общем фоне воздуха от Open-Meteo и европейской службы атмосферы CAMS. На их основе для сорока расчётных участков Астаны оцениваются запылённость, нагрев земли и прогноз на три часа, после чего программа отбирает приоритетные улицы с учётом свободного места под посадки.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[0:56–1:20 | 24 с] Посмотрим на реальный расчёт в приложении: тысяча вязов по всем районам со сроком роста десять лет. Все деревья без остатка распределяются вдоль четырёх загруженных проспектов: Республики, Сарыарка, Улы Дала и у вокзала. К десятому году расчётное поглощение углекислого газа составляет восемнадцать и семь десятых тонны в год, пыль PM2.5 на выбранных участках снижается на две десятых процента, а охлаждение на осеннем снимке честно равно нулю.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[1:20–1:39 | 19 с] Смета этого плана полностью открыта для правки: двадцать пять миллионов тенге на саженцы и посадку, три миллиона на первый год ухода и одна целая восемь десятых миллиона на датчики и поддержку программы. Итого двадцать девять и восемь десятых миллиона тенге в первый год. Планы сохраняются на тридцать дней, легко сравниваются между собой и выгружаются в готовый печатный отчёт.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[1:39–2:01 | 22 с] Мы проверили каждую часть расчёта и не используем искусственный интеллект вслепую. Для прогноза пыли PM2.5 простой расчёт от текущего уровня оказался точнее сложной модели, поэтому основным оставлен именно он, а машинное обучение выбрано для общего индекса нагрузки, где ошибка ниже. Проверка на тридцати шести сценариях также показала честный баланс между очисткой пыльных дорог и летней тенью в парках.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[2:01–2:15 | 14 с] Мы не заменяем государственные посты Казгидромета и детальные полевые обходы i-Tree. Практическая польза ASTRA в том, что специалист на русском, казахском или английском языке за пару минут собирает рабочий черновик посадок со сметой в тенге ещё до выезда агронома на место.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[2:15–2:31 | 16 с] Пользователи сервиса: специалисты управлений экологии, служб озеленения и подрядчики. Оплачивать работу может городской заказчик в рамках пилота и годовой поддержки либо грантовая программа. Мы чётко разделяем три разных бюджета: стоимость самих посадок, шестинедельную пилотную проверку на четырёх участках и годовую поддержку программы.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[2:31–2:45 | 14 с] Следующий шаг: двухэтапный пилот в Астане. Сначала шесть недель сверки датчиков рядом с постом Казгидромета и проверки удобства работы со специалистами на четырёх участках, а затем полный тёплый сезон наблюдений с агрономом для замера реальной приживаемости и охлаждения.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[Справочно · Приложение A1] Понятное описание формул расчёта эффекта посадок, сравнение параметров трёх пород деревьев (вяз, сосна, тополь) и проверка устойчивости списка приоритетных улиц при изменении весов на плюс-минус 20 процентов.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[Справочно · Приложение A2] Устройство прототипа (получение погодного фона, сервер и база данных, карта и печатный отчёт) и таблица текущих ограничений с конкретными шагами их решения на пилоте в Астане.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[Справочно · Приложение A3] Соответствие критериям Положения GreenHack Kazakhstan (100 баллов), лицензии открытых источников данных и раскрытие роли инструментов ИИ согласно пунктам 5.6 и 9.1–9.2 Положения.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897880" y="0"/>
            <a:ext cx="6293815" cy="6858000"/>
          </a:xfrm>
          <a:prstGeom prst="rect">
            <a:avLst/>
          </a:prstGeom>
          <a:solidFill>
            <a:srgbClr val="1C4334"/>
          </a:solidFill>
          <a:ln w="12700">
            <a:solidFill>
              <a:srgbClr val="1C43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7620">
            <a:solidFill>
              <a:srgbClr val="2A554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181344"/>
            <a:ext cx="11201400" cy="0"/>
          </a:xfrm>
          <a:prstGeom prst="line">
            <a:avLst/>
          </a:prstGeom>
          <a:noFill/>
          <a:ln w="7620">
            <a:solidFill>
              <a:srgbClr val="2A55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840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130" kern="0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GREENHACK KAZAKHSTAN 2026  ·  ПРЕДВАРИТЕЛЬНЫЙ ОТБОР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45820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spc="110" kern="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51°10′ N · 71°27′ E · АСТАНА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1024128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b="1" spc="250" kern="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502920" y="186537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 &amp; Surface Temperature Real-time Analytics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2267712"/>
            <a:ext cx="2011680" cy="0"/>
          </a:xfrm>
          <a:prstGeom prst="line">
            <a:avLst/>
          </a:prstGeom>
          <a:noFill/>
          <a:ln w="22860">
            <a:solidFill>
              <a:srgbClr val="B98B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432304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Помогает выбрать приоритетные места для посадки деревьев, оценить ожидаемый эффект и сразу посчитать смету в тенге.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502920" y="3858768"/>
            <a:ext cx="5120640" cy="585216"/>
          </a:xfrm>
          <a:prstGeom prst="roundRect">
            <a:avLst>
              <a:gd name="adj" fmla="val 6250"/>
            </a:avLst>
          </a:prstGeom>
          <a:solidFill>
            <a:srgbClr val="1D4738"/>
          </a:solidFill>
          <a:ln w="9525">
            <a:solidFill>
              <a:srgbClr val="3365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3922776"/>
            <a:ext cx="4882896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Направление конкурса: 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Искусственный интеллект и инженерные решения для городской среды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4553712"/>
            <a:ext cx="5120640" cy="585216"/>
          </a:xfrm>
          <a:prstGeom prst="roundRect">
            <a:avLst>
              <a:gd name="adj" fmla="val 6250"/>
            </a:avLst>
          </a:prstGeom>
          <a:solidFill>
            <a:srgbClr val="1D4738"/>
          </a:solidFill>
          <a:ln w="9525">
            <a:solidFill>
              <a:srgbClr val="33655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4617720"/>
            <a:ext cx="4882896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уже работает: 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Веб-приложение на трёх языках (RU / ҚАЗ / EN) с картой 40 участков Астаны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5248656"/>
            <a:ext cx="5120640" cy="585216"/>
          </a:xfrm>
          <a:prstGeom prst="roundRect">
            <a:avLst>
              <a:gd name="adj" fmla="val 6250"/>
            </a:avLst>
          </a:prstGeom>
          <a:solidFill>
            <a:srgbClr val="1D4738"/>
          </a:solidFill>
          <a:ln w="9525">
            <a:solidFill>
              <a:srgbClr val="3365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5312664"/>
            <a:ext cx="4882896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Честный подход: 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Отделяем общие данные о воздухе, расчёт модели и будущие уличные замеры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1078992"/>
            <a:ext cx="5559552" cy="3803904"/>
          </a:xfrm>
          <a:prstGeom prst="roundRect">
            <a:avLst>
              <a:gd name="adj" fmla="val 1442"/>
            </a:avLst>
          </a:prstGeom>
          <a:solidFill>
            <a:srgbClr val="265442"/>
          </a:solidFill>
          <a:ln w="9525">
            <a:solidFill>
              <a:srgbClr val="46786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08192" y="1033272"/>
            <a:ext cx="5596128" cy="3767328"/>
          </a:xfrm>
          <a:prstGeom prst="roundRect">
            <a:avLst>
              <a:gd name="adj" fmla="val 1214"/>
            </a:avLst>
          </a:prstGeom>
          <a:solidFill>
            <a:srgbClr val="F5F5ED"/>
          </a:solidFill>
          <a:ln w="11430">
            <a:solidFill>
              <a:srgbClr val="DEC49E"/>
            </a:solidFill>
            <a:prstDash val="solid"/>
          </a:ln>
        </p:spPr>
      </p:sp>
      <p:pic>
        <p:nvPicPr>
          <p:cNvPr id="21" name="Image 0" descr="Главный экран веб-приложения ASTRA: панорама парка Астаны и сводные показатели городской сред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3056" y="1088136"/>
            <a:ext cx="5486400" cy="36576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108192" y="4974336"/>
            <a:ext cx="5596128" cy="969264"/>
          </a:xfrm>
          <a:prstGeom prst="roundRect">
            <a:avLst>
              <a:gd name="adj" fmla="val 3774"/>
            </a:avLst>
          </a:prstGeom>
          <a:solidFill>
            <a:srgbClr val="16382C"/>
          </a:solidFill>
          <a:ln w="9525">
            <a:solidFill>
              <a:srgbClr val="33655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54496" y="5056632"/>
            <a:ext cx="5303520" cy="804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Рабочий веб-интерфейс ASTRA
</a:t>
            </a:r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Погода и общий фон воздуха приходят из открытых служб Open-Meteo и CAMS, а показатели по 40 участкам города считает модель приложения.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02920" y="627278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 команды для подачи (заполняется участниками): [Название команды · ФИО участников · Организация образования / город]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9829800" y="62727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09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10" kern="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ЭКОЛОГИЧЕСКАЯ ПРОБЛЕМА И КОМУ НУЖЕН ПРОДУКТ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Пыль и летняя жара распределены неравномерно, а бюджет посадок ограничен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02 / 09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298448"/>
            <a:ext cx="5779008" cy="987552"/>
          </a:xfrm>
          <a:prstGeom prst="roundRect">
            <a:avLst>
              <a:gd name="adj" fmla="val 3704"/>
            </a:avLst>
          </a:prstGeom>
          <a:solidFill>
            <a:srgbClr val="E7EFE0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298448"/>
            <a:ext cx="82296" cy="9875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362456"/>
            <a:ext cx="5486400" cy="8595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что влияет озеленение в городе
</a:t>
            </a:r>
            <a:pPr algn="l"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Мелкая пыль и дым (PM2.5): мельчайшие частицы до 2,5 микрометра, которые проникают глубоко в лёгкие.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Летний перегрев улиц: открытый асфальт вдоль широких дорог сильно нагревается и усиливает духоту.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50545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457200" y="316382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постов в Астане</a:t>
            </a:r>
            <a:endParaRPr lang="en-US" sz="9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(6 авто · 20 мин)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1965960" y="2505456"/>
            <a:ext cx="4270248" cy="15361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Городские посты дают общий фон, а не план посадки
</a:t>
            </a:r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Астане работает 10 стационарных постов Казгидромета. В июле 2025 года служба отмечала, что сеть нужно обновлять: плотная застройка вокруг части станций мешает свободному движению воздуха. Десять точек показывают общий фон, но не подсказывают, какие улицы озеленять первыми.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4187952"/>
            <a:ext cx="5779008" cy="0"/>
          </a:xfrm>
          <a:prstGeom prst="line">
            <a:avLst/>
          </a:prstGeom>
          <a:noFill/>
          <a:ln w="10160">
            <a:solidFill>
              <a:srgbClr val="CFDA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35254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53,7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457200" y="4992624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тыс. тонн в год</a:t>
            </a:r>
            <a:endParaRPr lang="en-US" sz="9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предприятия (2025)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1965960" y="4352544"/>
            <a:ext cx="4270248" cy="16642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улицах к общему фону добавляются машины и голый асфальт
</a:t>
            </a:r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 данным Бюро нацстатистики за 2025 год, стационарные источники в Астане выбросили 53,7 тыс. тонн веществ (из 2 280,9 тыс. тонн по стране). Это только трубы и котельные за год, а на конкретных проспектах воздух дополнительно портят поток машин, ветер и нехватка кроны.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92240" y="1298448"/>
            <a:ext cx="5239512" cy="4901184"/>
          </a:xfrm>
          <a:prstGeom prst="roundRect">
            <a:avLst>
              <a:gd name="adj" fmla="val 933"/>
            </a:avLst>
          </a:prstGeom>
          <a:solidFill>
            <a:srgbClr val="15362A"/>
          </a:solidFill>
          <a:ln w="9525">
            <a:solidFill>
              <a:srgbClr val="2D6A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48272" y="151790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120" kern="0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КОМУ ПОМОГАЕТ ASTRA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48272" y="1792224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Специалистам управлений экологии, районных служб озеленения и подрядчикам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748272" y="2487168"/>
            <a:ext cx="4709160" cy="0"/>
          </a:xfrm>
          <a:prstGeom prst="line">
            <a:avLst/>
          </a:prstGeom>
          <a:noFill/>
          <a:ln w="10160">
            <a:solidFill>
              <a:srgbClr val="2E5C4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48272" y="2633472"/>
            <a:ext cx="384048" cy="329184"/>
          </a:xfrm>
          <a:prstGeom prst="rect">
            <a:avLst/>
          </a:prstGeom>
          <a:solidFill>
            <a:srgbClr val="B98B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3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242048" y="2606040"/>
            <a:ext cx="4242816" cy="7680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Где сажать деревья в первую очередь?
</a:t>
            </a:r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Быстро сравнить загруженные проспекты, жилые кварталы и парки по запылённости и летнему нагреву.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48272" y="3493008"/>
            <a:ext cx="384048" cy="329184"/>
          </a:xfrm>
          <a:prstGeom prst="rect">
            <a:avLst/>
          </a:prstGeom>
          <a:solidFill>
            <a:srgbClr val="B98B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3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242048" y="3465576"/>
            <a:ext cx="4242816" cy="7680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Сколько саженцев реально поместится на улице?
</a:t>
            </a:r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Учесть предел свободного места вдоль дороги, чтобы не планировать тысячи деревьев там, где для них нет земли.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48272" y="4352544"/>
            <a:ext cx="384048" cy="329184"/>
          </a:xfrm>
          <a:prstGeom prst="rect">
            <a:avLst/>
          </a:prstGeom>
          <a:solidFill>
            <a:srgbClr val="B98B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3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242048" y="4325112"/>
            <a:ext cx="4242816" cy="7680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Какую породу выбрать и на какой срок?
</a:t>
            </a:r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Сравнить широкую крону вяза, зимнюю хвою сосны и быстрый рост тополя на срок от 5 до 30 лет.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748272" y="5212080"/>
            <a:ext cx="384048" cy="329184"/>
          </a:xfrm>
          <a:prstGeom prst="rect">
            <a:avLst/>
          </a:prstGeom>
          <a:solidFill>
            <a:srgbClr val="B98B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3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242048" y="5184648"/>
            <a:ext cx="4242816" cy="7680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обосновать расходы на согласовании?
</a:t>
            </a:r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Сразу показать стоимость посадки в первый год, затраты на уход и выгрузить готовый отчёт.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10" kern="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РАБОТАЕТ ПРИЛОЖЕНИЕ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данных о погоде до готового плана посадок за пять простых шагов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03 / 09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261872"/>
            <a:ext cx="2121408" cy="914400"/>
          </a:xfrm>
          <a:prstGeom prst="roundRect">
            <a:avLst>
              <a:gd name="adj" fmla="val 4000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316736"/>
            <a:ext cx="1938528" cy="804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 1 · ПОГОДА И ФОН
</a:t>
            </a:r>
            <a:pPr algn="l" indent="0" marL="0">
              <a:lnSpc>
                <a:spcPct val="105000"/>
              </a:lnSpc>
              <a:buNone/>
            </a:pPr>
            <a:r>
              <a:rPr lang="en-US" sz="112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Open-Meteo и CAMS
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Обновление раз в 5 мин · запасная копия офлайн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587752" y="15727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0" y="1261872"/>
            <a:ext cx="2121408" cy="914400"/>
          </a:xfrm>
          <a:prstGeom prst="roundRect">
            <a:avLst>
              <a:gd name="adj" fmla="val 4000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34640" y="1316736"/>
            <a:ext cx="1938528" cy="804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 2 · КАРТА 40 ЗОН
</a:t>
            </a:r>
            <a:pPr algn="l" indent="0" marL="0">
              <a:lnSpc>
                <a:spcPct val="105000"/>
              </a:lnSpc>
              <a:buNone/>
            </a:pPr>
            <a:r>
              <a:rPr lang="en-US" sz="112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Расчёт по участкам
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районов города · учёт машин, зелени и ветра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73752" y="15727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29200" y="1261872"/>
            <a:ext cx="2121408" cy="914400"/>
          </a:xfrm>
          <a:prstGeom prst="roundRect">
            <a:avLst>
              <a:gd name="adj" fmla="val 4000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0" y="1316736"/>
            <a:ext cx="1938528" cy="804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 3 · ПРОГНОЗ +3 Ч
</a:t>
            </a:r>
            <a:pPr algn="l" indent="0" marL="0">
              <a:lnSpc>
                <a:spcPct val="105000"/>
              </a:lnSpc>
              <a:buNone/>
            </a:pPr>
            <a:r>
              <a:rPr lang="en-US" sz="112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Воздух и нагрузка
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Оценка пыли PM2.5 и индекса общей нагрузки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59752" y="15727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15200" y="1261872"/>
            <a:ext cx="2121408" cy="914400"/>
          </a:xfrm>
          <a:prstGeom prst="roundRect">
            <a:avLst>
              <a:gd name="adj" fmla="val 4000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06640" y="1316736"/>
            <a:ext cx="1938528" cy="804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 4 · ОТБОР УЛИЦ
</a:t>
            </a:r>
            <a:pPr algn="l" indent="0" marL="0">
              <a:lnSpc>
                <a:spcPct val="105000"/>
              </a:lnSpc>
              <a:buNone/>
            </a:pPr>
            <a:r>
              <a:rPr lang="en-US" sz="112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Очерёдность и лимит
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Пыль, жара выше +25 °C и число посадочных мест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445752" y="15727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601200" y="1261872"/>
            <a:ext cx="2121408" cy="914400"/>
          </a:xfrm>
          <a:prstGeom prst="roundRect">
            <a:avLst>
              <a:gd name="adj" fmla="val 4000"/>
            </a:avLst>
          </a:prstGeom>
          <a:solidFill>
            <a:srgbClr val="15362A"/>
          </a:solidFill>
          <a:ln w="9525">
            <a:solidFill>
              <a:srgbClr val="1536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2640" y="1316736"/>
            <a:ext cx="1938528" cy="804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 5 · ГОТОВЫЙ ПЛАН
</a:t>
            </a:r>
            <a:pPr algn="l" indent="0" marL="0">
              <a:lnSpc>
                <a:spcPct val="105000"/>
              </a:lnSpc>
              <a:buNone/>
            </a:pPr>
            <a:r>
              <a:rPr lang="en-US" sz="112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Порода и смета в ₸
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Хранение 30 дней, сравнение и печатный PDF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4632" y="2304288"/>
            <a:ext cx="5843016" cy="393192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1430">
            <a:solidFill>
              <a:srgbClr val="BDCCB4"/>
            </a:solidFill>
            <a:prstDash val="solid"/>
          </a:ln>
        </p:spPr>
      </p:sp>
      <p:pic>
        <p:nvPicPr>
          <p:cNvPr id="25" name="Image 0" descr="Карта 40 участков Астаны на подложке OpenStreetMap с открытой карточкой проспекта Республики и прогнозом через 3 час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2359152"/>
            <a:ext cx="5733288" cy="382219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537960" y="2304288"/>
            <a:ext cx="5193792" cy="2048256"/>
          </a:xfrm>
          <a:prstGeom prst="roundRect">
            <a:avLst>
              <a:gd name="adj" fmla="val 1786"/>
            </a:avLst>
          </a:prstGeom>
          <a:solidFill>
            <a:srgbClr val="F5EBDC"/>
          </a:solidFill>
          <a:ln w="9525">
            <a:solidFill>
              <a:srgbClr val="DEC49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37960" y="2304288"/>
            <a:ext cx="82296" cy="2048256"/>
          </a:xfrm>
          <a:prstGeom prst="rect">
            <a:avLst/>
          </a:prstGeom>
          <a:solidFill>
            <a:srgbClr val="936930"/>
          </a:solidFill>
          <a:ln w="12700">
            <a:solidFill>
              <a:srgbClr val="93693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20840" y="2377440"/>
            <a:ext cx="4892040" cy="190195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Откуда берутся данные на карте
</a:t>
            </a:r>
            <a:pPr algn="l" indent="0" marL="0">
              <a:lnSpc>
                <a:spcPct val="110000"/>
              </a:lnSpc>
              <a:buNone/>
            </a:pPr>
            <a:r>
              <a:rPr lang="en-US" sz="102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Погода и общий фон воздуха (Open-Meteo и CAMS): </a:t>
            </a:r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европейская служба мониторинга атмосферы даёт фон по региону Астаны (сетка около 45 км). Без интернета программа берёт сохранённую копию.
</a:t>
            </a:r>
            <a:pPr algn="l" indent="0" marL="0">
              <a:lnSpc>
                <a:spcPct val="110000"/>
              </a:lnSpc>
              <a:buNone/>
            </a:pPr>
            <a:r>
              <a:rPr lang="en-US" sz="102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40 городских участков на карте: </a:t>
            </a:r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это НЕ установленные уличные датчики, а расчётные зоны вдоль реальных проспектов, дворов и парков вместимостью от 260 до 1 800 деревьев.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537960" y="4480560"/>
            <a:ext cx="5193792" cy="1755648"/>
          </a:xfrm>
          <a:prstGeom prst="roundRect">
            <a:avLst>
              <a:gd name="adj" fmla="val 2083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693408" y="4553712"/>
            <a:ext cx="4901184" cy="160934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8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Показатели на карте простыми словами
</a:t>
            </a:r>
            <a:pPr algn="l" indent="0" marL="0">
              <a:lnSpc>
                <a:spcPct val="110000"/>
              </a:lnSpc>
              <a:buNone/>
            </a:pPr>
            <a:r>
              <a:rPr lang="en-US" sz="101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Индекс нагрузки ESI (от 0 до 100): </a:t>
            </a:r>
            <a:pPr algn="l" indent="0" marL="0">
              <a:lnSpc>
                <a:spcPct val="110000"/>
              </a:lnSpc>
              <a:buNone/>
            </a:pPr>
            <a:r>
              <a:rPr lang="en-US" sz="101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объединяет пыль PM2.5 (50%), выхлопной газ диоксид азота NO₂ (20%) и перегрев земли (30%). Чем выше балл, тем нужнее деревья.
</a:t>
            </a:r>
            <a:pPr algn="l" indent="0" marL="0">
              <a:lnSpc>
                <a:spcPct val="110000"/>
              </a:lnSpc>
              <a:buNone/>
            </a:pPr>
            <a:r>
              <a:rPr lang="en-US" sz="101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Показатель озеленённости NDVI: </a:t>
            </a:r>
            <a:pPr algn="l" indent="0" marL="0">
              <a:lnSpc>
                <a:spcPct val="110000"/>
              </a:lnSpc>
              <a:buNone/>
            </a:pPr>
            <a:r>
              <a:rPr lang="en-US" sz="101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показывает, сколько зелени уже есть сейчас. У голых магистралей это 0,11–0,17, а у парков 0,48–0,58.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10" kern="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РЕАЛЬНЫЙ ПРИМЕР РАСЧЁТА В ПРИЛОЖЕНИИ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Пример расчёта: 1 000 вязов распределены по 4 проспектам без остатка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04 / 09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243584"/>
            <a:ext cx="11274552" cy="402336"/>
          </a:xfrm>
          <a:prstGeom prst="roundRect">
            <a:avLst>
              <a:gd name="adj" fmla="val 9091"/>
            </a:avLst>
          </a:prstGeom>
          <a:solidFill>
            <a:srgbClr val="15362A"/>
          </a:solidFill>
          <a:ln w="12700">
            <a:solidFill>
              <a:srgbClr val="1536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1271016"/>
            <a:ext cx="10972800" cy="3474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УСЛОВИЯ ПРИМЕРА:  </a:t>
            </a:r>
            <a:pPr algn="l"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1 000 деревьев  ·  Вяз (приживаемость 85%, крона 25 м²)  ·  Все районы  ·  Срок роста: 10 лет  ·  Погода снимка: +0,9 °C, PM2.5 = 10,3 мкг/м³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4924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1430">
            <a:solidFill>
              <a:srgbClr val="BDCCB4"/>
            </a:solidFill>
            <a:prstDash val="solid"/>
          </a:ln>
        </p:spPr>
      </p:sp>
      <p:pic>
        <p:nvPicPr>
          <p:cNvPr id="13" name="Image 0" descr="Экран результата расчёта 1 000 вязов в ASTRA: сводные карточки и таблица 4 выбранных дорожных коридор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828800"/>
            <a:ext cx="5239512" cy="3685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5632704"/>
            <a:ext cx="5349240" cy="38404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i="1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Снимок экрана с результатом этого расчёта (на карточках числа округлены до сотых, точные значения приведены справа).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5989320" y="1773936"/>
            <a:ext cx="5742432" cy="2176272"/>
          </a:xfrm>
          <a:prstGeom prst="roundRect">
            <a:avLst>
              <a:gd name="adj" fmla="val 1681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44768" y="184708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Куда программа направила 1 000 деревьев (лимит 260 мест на участок)</a:t>
            </a:r>
            <a:endParaRPr lang="en-US" sz="108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080760" y="2103120"/>
          <a:ext cx="5532120" cy="17739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hape 13"/>
          <p:cNvSpPr/>
          <p:nvPr/>
        </p:nvSpPr>
        <p:spPr>
          <a:xfrm>
            <a:off x="5989320" y="4059936"/>
            <a:ext cx="2825496" cy="1014984"/>
          </a:xfrm>
          <a:prstGeom prst="roundRect">
            <a:avLst>
              <a:gd name="adj" fmla="val 3604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080760" y="4105656"/>
            <a:ext cx="2642616" cy="92354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−0,025 мкг/м³ PM2.5
</a:t>
            </a:r>
            <a:pPr algn="l" indent="0" marL="0">
              <a:lnSpc>
                <a:spcPct val="104000"/>
              </a:lnSpc>
              <a:buNone/>
            </a:pP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Было 12,81 → стало 12,79 (−0,20%)
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Возможный разброс: 0,013–0,038 мкг/м³. Это расчёт модели, а не уличный замер.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06256" y="4059936"/>
            <a:ext cx="2825496" cy="1014984"/>
          </a:xfrm>
          <a:prstGeom prst="roundRect">
            <a:avLst>
              <a:gd name="adj" fmla="val 3604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997696" y="4105656"/>
            <a:ext cx="2642616" cy="92354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18,7 т CO₂ в год
</a:t>
            </a:r>
            <a:pPr algn="l" indent="0" marL="0">
              <a:lnSpc>
                <a:spcPct val="104000"/>
              </a:lnSpc>
              <a:buNone/>
            </a:pP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 10-му году · 850 живых вязов
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учётом приживаемости 85% и общей кроны 21 250 м² (по 22 кг CO₂ на дерево).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989320" y="5148072"/>
            <a:ext cx="2825496" cy="1014984"/>
          </a:xfrm>
          <a:prstGeom prst="roundRect">
            <a:avLst>
              <a:gd name="adj" fmla="val 3604"/>
            </a:avLst>
          </a:prstGeom>
          <a:solidFill>
            <a:srgbClr val="F5EBDC"/>
          </a:solidFill>
          <a:ln w="9525">
            <a:solidFill>
              <a:srgbClr val="DEC49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080760" y="5193792"/>
            <a:ext cx="2642616" cy="92354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0,00 °C охлаждение
</a:t>
            </a:r>
            <a:pPr algn="l" indent="0" marL="0">
              <a:lnSpc>
                <a:spcPct val="104000"/>
              </a:lnSpc>
              <a:buNone/>
            </a:pP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Честный ответ для осени (+0,9 °C)
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Тень от листвы охлаждает улицу только при погоде от +10 °C, без приписок зимой.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906256" y="5148072"/>
            <a:ext cx="2825496" cy="1014984"/>
          </a:xfrm>
          <a:prstGeom prst="roundRect">
            <a:avLst>
              <a:gd name="adj" fmla="val 3604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997696" y="5193792"/>
            <a:ext cx="2642616" cy="92354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8 900 жителей
</a:t>
            </a:r>
            <a:pPr algn="l" indent="0" marL="0">
              <a:lnSpc>
                <a:spcPct val="104000"/>
              </a:lnSpc>
              <a:buNone/>
            </a:pP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Оценка охвата вдоль 4 дорог
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Сумма соседних жилых зон (2 300 + 2 300 + 2 200 + 2 100) без двойного счёта.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10" kern="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СМЕТА ПОСАДОК, СРАВНЕНИЕ ВАРИАНТОВ И ОТЧЁТ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Смета понятна по каждой строке, а варианты плана легко сравнить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05 / 09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530352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1133856"/>
                <a:gridCol w="978408"/>
                <a:gridCol w="978408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Статья расходов (1 000 вязов)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Расценка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1-й год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За 10 лет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Саженцы вяза (1 000 шт.)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15 000 ₸/шт.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Работы по посадке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10 000 ₸/шт.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Ежегодный уход и полив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3 000 ₸/шт./год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Датчики контроля для пилота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разово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0,6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0,6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Поддержка программы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1,2 млн ₸/год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1,2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12,0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228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ИТОГО по плану посадок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526B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можно менять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b="1" dirty="0">
                          <a:solidFill>
                            <a:srgbClr val="1C43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29,8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b="1" dirty="0">
                          <a:solidFill>
                            <a:srgbClr val="9369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67,6 млн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D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3950208"/>
            <a:ext cx="5303520" cy="2267712"/>
          </a:xfrm>
          <a:prstGeom prst="roundRect">
            <a:avLst>
              <a:gd name="adj" fmla="val 1613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3504" y="4023360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 чего складываются затраты: посадка и 10 лет ухода (млн ₸)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66928" y="4279392"/>
          <a:ext cx="5084064" cy="1389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9"/>
          <p:cNvSpPr/>
          <p:nvPr/>
        </p:nvSpPr>
        <p:spPr>
          <a:xfrm>
            <a:off x="603504" y="5705856"/>
            <a:ext cx="5010912" cy="43891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Стартовые ориентировочные цены (любую цифру можно поменять вручную). Не включают инфляцию, прокладку труб полива и замену погибших саженцев.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961888" y="1314334"/>
            <a:ext cx="3611880" cy="2272515"/>
          </a:xfrm>
          <a:prstGeom prst="roundRect">
            <a:avLst>
              <a:gd name="adj" fmla="val 2012"/>
            </a:avLst>
          </a:prstGeom>
          <a:solidFill>
            <a:srgbClr val="FFFFFF"/>
          </a:solidFill>
          <a:ln w="11430">
            <a:solidFill>
              <a:srgbClr val="BDCCB4"/>
            </a:solidFill>
            <a:prstDash val="solid"/>
          </a:ln>
        </p:spPr>
      </p:sp>
      <p:pic>
        <p:nvPicPr>
          <p:cNvPr id="16" name="Image 0" descr="Сравнение сохранённых планов A и B в ASTRA: все районы против района Есиль при одинаковом бюджете 1 000 вязов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1360054"/>
            <a:ext cx="3520440" cy="218107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674352" y="1298448"/>
            <a:ext cx="2057400" cy="2304288"/>
          </a:xfrm>
          <a:prstGeom prst="roundRect">
            <a:avLst>
              <a:gd name="adj" fmla="val 1778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774936" y="1389888"/>
            <a:ext cx="1856232" cy="21214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Архив на 30 дней и сравнение
</a:t>
            </a:r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 A (все районы): −0,025 мкг/м³.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 B (только Есиль): −0,020 мкг/м³ за те же 29,8 млн ₸.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Помогает сравнить районные квоты на одних данных.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961888" y="3790436"/>
            <a:ext cx="3977640" cy="2386088"/>
          </a:xfrm>
          <a:prstGeom prst="roundRect">
            <a:avLst>
              <a:gd name="adj" fmla="val 1916"/>
            </a:avLst>
          </a:prstGeom>
          <a:solidFill>
            <a:srgbClr val="FFFFFF"/>
          </a:solidFill>
          <a:ln w="11430">
            <a:solidFill>
              <a:srgbClr val="DEC49E"/>
            </a:solidFill>
            <a:prstDash val="solid"/>
          </a:ln>
        </p:spPr>
      </p:sp>
      <p:pic>
        <p:nvPicPr>
          <p:cNvPr id="20" name="Image 1" descr="Печатный отчёт ASTRA по расчёту на 1 000 вязов для согласования и сохранения в PD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3836156"/>
            <a:ext cx="3886200" cy="229464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0040112" y="3767328"/>
            <a:ext cx="1691640" cy="2432304"/>
          </a:xfrm>
          <a:prstGeom prst="roundRect">
            <a:avLst>
              <a:gd name="adj" fmla="val 2162"/>
            </a:avLst>
          </a:prstGeom>
          <a:solidFill>
            <a:srgbClr val="F5EBDC"/>
          </a:solidFill>
          <a:ln w="9525">
            <a:solidFill>
              <a:srgbClr val="DEC49E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0140696" y="3858768"/>
            <a:ext cx="1490472" cy="224942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Готовый отчёт для печати
</a:t>
            </a:r>
            <a:pPr algn="l"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 открывается как чистый лист А4 для сохранения в PDF, а все детали расчёта скачиваются отдельным файлом.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10" kern="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УЖЕ ПРОВЕРЕНО И ЧТО ОЗНАЧАЮТ РЕЗУЛЬТАТЫ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Мы проверили точность моделей и нашли честный баланс в посадках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06 / 09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280160"/>
            <a:ext cx="5440680" cy="4937760"/>
          </a:xfrm>
          <a:prstGeom prst="roundRect">
            <a:avLst>
              <a:gd name="adj" fmla="val 741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8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Как мы выбирали прогноз на 3 часа вперёд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621792" y="16642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Средняя ошибка прогноза на 3 проверочных выборках по 11 520 записей (чем короче столбик, тем точнее расчёт):</a:t>
            </a:r>
            <a:endParaRPr lang="en-US" sz="96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85216" y="2048256"/>
          <a:ext cx="5175504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0"/>
          <p:cNvSpPr/>
          <p:nvPr/>
        </p:nvSpPr>
        <p:spPr>
          <a:xfrm>
            <a:off x="621792" y="4590288"/>
            <a:ext cx="5111496" cy="1481328"/>
          </a:xfrm>
          <a:prstGeom prst="roundRect">
            <a:avLst>
              <a:gd name="adj" fmla="val 2469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1520" y="4626864"/>
            <a:ext cx="4892040" cy="14081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Почему мы не используем ИИ вслепую:
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Для пыли PM2.5 простой расчёт от текущего уровня дал меньшую ошибку (1,94 против 2,20), поэтому основным оставлен именно он.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Для индекса общей нагрузки ESI модель машинного обучения точнее базы (1,22 против 1,86).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Подсказки в карточке участка показывают, какие факторы повлияли на прогноз (ветер, трафик, час суток), но не заменяют уличных замеров.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08192" y="1280160"/>
            <a:ext cx="5623560" cy="2944368"/>
          </a:xfrm>
          <a:prstGeom prst="roundRect">
            <a:avLst>
              <a:gd name="adj" fmla="val 1242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72784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4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Проверка подбора улиц на 36 разных сценариях</a:t>
            </a:r>
            <a:endParaRPr lang="en-US" sz="114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2784" y="1755648"/>
          <a:ext cx="5294376" cy="914400"/>
        </p:xfrm>
        <a:graphic>
          <a:graphicData uri="http://schemas.openxmlformats.org/drawingml/2006/table">
            <a:tbl>
              <a:tblPr/>
              <a:tblGrid>
                <a:gridCol w="3374136"/>
                <a:gridCol w="192024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Что сравнивали (разная погода, бюджеты и породы)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ASTRA против раздачи поровну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Общая польза на выбранных улицах и по всему городу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C43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Лучше в 36 из 36 случаев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Среднее снижение пыли PM2.5 с учётом площади участков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C43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Лучше в 36 из 36 случаев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Среднее охлаждение улиц в тёплую погоду (24 случая)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9369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Чуть ниже в 24 тёплых (−0,0044 °C)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DC"/>
                    </a:solidFill>
                  </a:tcPr>
                </a:tc>
              </a:tr>
            </a:tbl>
          </a:graphicData>
        </a:graphic>
      </p:graphicFrame>
      <p:sp>
        <p:nvSpPr>
          <p:cNvPr id="19" name="Text 14"/>
          <p:cNvSpPr/>
          <p:nvPr/>
        </p:nvSpPr>
        <p:spPr>
          <a:xfrm>
            <a:off x="6272784" y="3419856"/>
            <a:ext cx="5294376" cy="7132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Откуда разница по охлаждению: ASTRA сначала закрывает самые пыльные дороги с малым числом мест (по 260 деревьев), а при раздаче поровну больше саженцев уходит в просторные парки и дворы, где тень шире.</a:t>
            </a:r>
            <a:endParaRPr lang="en-US" sz="960" dirty="0"/>
          </a:p>
        </p:txBody>
      </p:sp>
      <p:sp>
        <p:nvSpPr>
          <p:cNvPr id="20" name="Shape 15"/>
          <p:cNvSpPr/>
          <p:nvPr/>
        </p:nvSpPr>
        <p:spPr>
          <a:xfrm>
            <a:off x="6108192" y="4370832"/>
            <a:ext cx="5623560" cy="1847088"/>
          </a:xfrm>
          <a:prstGeom prst="roundRect">
            <a:avLst>
              <a:gd name="adj" fmla="val 1980"/>
            </a:avLst>
          </a:prstGeom>
          <a:solidFill>
            <a:srgbClr val="15362A"/>
          </a:solidFill>
          <a:ln w="12700">
            <a:solidFill>
              <a:srgbClr val="15362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291072" y="44805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Проверка надёжности самой программы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91072" y="4828032"/>
            <a:ext cx="1225296" cy="1225296"/>
          </a:xfrm>
          <a:prstGeom prst="roundRect">
            <a:avLst>
              <a:gd name="adj" fmla="val 2985"/>
            </a:avLst>
          </a:prstGeom>
          <a:solidFill>
            <a:srgbClr val="1E4939"/>
          </a:solidFill>
          <a:ln w="9525">
            <a:solidFill>
              <a:srgbClr val="35685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345936" y="4882896"/>
            <a:ext cx="1115568" cy="11155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
</a:t>
            </a:r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автотестов расчётов</a:t>
            </a:r>
            <a:endParaRPr lang="en-US" sz="11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сервера Python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626096" y="4828032"/>
            <a:ext cx="1225296" cy="1225296"/>
          </a:xfrm>
          <a:prstGeom prst="roundRect">
            <a:avLst>
              <a:gd name="adj" fmla="val 2985"/>
            </a:avLst>
          </a:prstGeom>
          <a:solidFill>
            <a:srgbClr val="1E4939"/>
          </a:solidFill>
          <a:ln w="9525">
            <a:solidFill>
              <a:srgbClr val="35685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680960" y="4882896"/>
            <a:ext cx="1115568" cy="11155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
</a:t>
            </a:r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теста интерфейса,</a:t>
            </a:r>
            <a:endParaRPr lang="en-US" sz="11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отчёта и 3 языков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961120" y="4828032"/>
            <a:ext cx="1225296" cy="1225296"/>
          </a:xfrm>
          <a:prstGeom prst="roundRect">
            <a:avLst>
              <a:gd name="adj" fmla="val 2985"/>
            </a:avLst>
          </a:prstGeom>
          <a:solidFill>
            <a:srgbClr val="1E4939"/>
          </a:solidFill>
          <a:ln w="9525">
            <a:solidFill>
              <a:srgbClr val="35685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015984" y="4882896"/>
            <a:ext cx="1115568" cy="11155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640
</a:t>
            </a:r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записей подряд без</a:t>
            </a:r>
            <a:endParaRPr lang="en-US" sz="11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потерь при рестарте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10296144" y="4828032"/>
            <a:ext cx="1225296" cy="1225296"/>
          </a:xfrm>
          <a:prstGeom prst="roundRect">
            <a:avLst>
              <a:gd name="adj" fmla="val 2985"/>
            </a:avLst>
          </a:prstGeom>
          <a:solidFill>
            <a:srgbClr val="1E4939"/>
          </a:solidFill>
          <a:ln w="9525">
            <a:solidFill>
              <a:srgbClr val="35685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0351008" y="4882896"/>
            <a:ext cx="1115568" cy="11155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
</a:t>
            </a:r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сбоев сервера при</a:t>
            </a:r>
            <a:endParaRPr lang="en-US" sz="11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проверке нагрузки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10" kern="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СРАВНЕНИЕ С СУЩЕСТВУЮЩИМИ ИНСТРУМЕНТАМИ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Чем ASTRA полезна на фоне существующих решений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07 / 09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7455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697480"/>
                <a:gridCol w="3090672"/>
                <a:gridCol w="3337560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Что важно в работе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Карты Казгидромета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Программы семейства i-Tree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Прототип ASTRA (наша роль)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Главная задача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Официальное наблюдение за воздухом на городских постах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Оценка пользы деревьев по полевым обходам или готовым картам США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228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Быстрый подбор мест посадки, породы и сметы для Астаны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Что нужно для старта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Готовая государственная сеть станций (10 постов в Астане)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Ручной пересчёт деревьев на улице или зарубежные слои карт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Работает сразу в браузере: погодный фон + карта 40 участков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Учёт места и бюджет в тенге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Не считает посадки деревьев и смету озеленения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Оценивает экологическую выгоду, но без местной сметы в 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Учитывает лимит мест (260–1 800 дер.) и считает смету в тенге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Сравнение планов и отчёт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Показывает текущие и архивные наблюдения постов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Отчёты обходов и отдельные калькуляторы в разных модулях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Хранит планы 30 дней, сравнивает варианты A и B, делает PDF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Языки и удобство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Казахстанский портал (RU / ҚАЗ)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 основном на английском языке для узких специалистов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Три языка (RU / ҚАЗ / EN) и простые пояснения без жаргона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5285232"/>
            <a:ext cx="11274552" cy="914400"/>
          </a:xfrm>
          <a:prstGeom prst="roundRect">
            <a:avLst>
              <a:gd name="adj" fmla="val 4000"/>
            </a:avLst>
          </a:prstGeom>
          <a:solidFill>
            <a:srgbClr val="15362A"/>
          </a:solidFill>
          <a:ln w="12700">
            <a:solidFill>
              <a:srgbClr val="15362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5285232"/>
            <a:ext cx="91440" cy="914400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76656" y="5358384"/>
            <a:ext cx="10881360" cy="7680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2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Честная позиция без громких заявлений:  </a:t>
            </a:r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не заменяет государственные замеры Казгидромета, детальные обходы i-Tree и проверку подземных труб на месте. Ценность продукта в другом: за несколько минут собрать понятный черновик программы посадок до выезда агронома на улицу.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10" kern="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ПОЛЬЗОВАТЕЛИ, ФИНАНСИРОВАНИЕ И СТРУКТУРА РАСХОДОВ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Кто будет пользоваться сервисом и как разделены три вида затрат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08 / 09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280160"/>
            <a:ext cx="5468112" cy="1664208"/>
          </a:xfrm>
          <a:prstGeom prst="roundRect">
            <a:avLst>
              <a:gd name="adj" fmla="val 2198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280160"/>
            <a:ext cx="5468112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1389888"/>
            <a:ext cx="5138928" cy="14813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8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Кто пользуется приложением в работе
</a:t>
            </a:r>
            <a:pPr algn="l" indent="0" marL="0">
              <a:lnSpc>
                <a:spcPct val="110000"/>
              </a:lnSpc>
              <a:buNone/>
            </a:pPr>
            <a:r>
              <a:rPr lang="en-US" sz="99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Специалисты городских управлений экологии, служб озеленения и районных акиматов.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9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Проектировщики благоустройства и озеленительные подрядчики при подготовке районных планов.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9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Исследователи и экокоманды, которым нужны открытые расчёты.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44768" y="1280160"/>
            <a:ext cx="5586984" cy="1664208"/>
          </a:xfrm>
          <a:prstGeom prst="roundRect">
            <a:avLst>
              <a:gd name="adj" fmla="val 2198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44768" y="1280160"/>
            <a:ext cx="5586984" cy="64008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1389888"/>
            <a:ext cx="5257800" cy="14813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8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Кто оплачивает работу и модель развития
</a:t>
            </a:r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Городской заказчик или оператор озеленения: оплата пилотной настройки под район и годовой поддержки.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Экологические гранты и партнёрские программы по улучшению городской среды.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Сейчас это открытый прототип без выручки и клиентов; платные тарифы погодных сервисов нужны только при контракте.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090672"/>
            <a:ext cx="3611880" cy="2505456"/>
          </a:xfrm>
          <a:prstGeom prst="roundRect">
            <a:avLst>
              <a:gd name="adj" fmla="val 1460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" y="3182112"/>
            <a:ext cx="3355848" cy="23225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БЮДЖЕТ САМИХ ПОСАДОК
</a:t>
            </a:r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29,8 млн ₸
</a:t>
            </a:r>
            <a:pPr algn="l"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1-й год · 67,6 млн ₸ за 10 лет
</a:t>
            </a:r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Ориентировочная смета озеленения в приложении на примере 1 000 вязов: саженцы 15,0 млн, посадка 10,0 млн, уход 3,0 млн в год, а также базовые строки на датчики (0,6 млн) и поддержку программы (1,2 млн в год).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88536" y="3090672"/>
            <a:ext cx="3611880" cy="2505456"/>
          </a:xfrm>
          <a:prstGeom prst="roundRect">
            <a:avLst>
              <a:gd name="adj" fmla="val 1460"/>
            </a:avLst>
          </a:prstGeom>
          <a:solidFill>
            <a:srgbClr val="F5EBDC"/>
          </a:solidFill>
          <a:ln w="9525">
            <a:solidFill>
              <a:srgbClr val="DEC49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16552" y="3182112"/>
            <a:ext cx="3355848" cy="23225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ПИЛОТНАЯ ПРОВЕРКА (6 НЕДЕЛЬ)
</a:t>
            </a:r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1,13–2,71 млн ₸
</a:t>
            </a:r>
            <a:pPr algn="l"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предварительная оценка (с запасом 15%)
</a:t>
            </a:r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Проверка точности данных и удобства работы на 4 участках: инженер данных (80–120 ч), эколог (24–40 ч), тесты со специалистами (24–40 ч), аренда 4 датчиков пыли на 2 мес. и сверка с постом. Без цены деревьев.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19872" y="3090672"/>
            <a:ext cx="3611880" cy="2505456"/>
          </a:xfrm>
          <a:prstGeom prst="roundRect">
            <a:avLst>
              <a:gd name="adj" fmla="val 1460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47888" y="3182112"/>
            <a:ext cx="3355848" cy="23225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ПОДДЕРЖКА СЕРВИСА ЗА ГОД
</a:t>
            </a:r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0,74–2,32 млн ₸/год
</a:t>
            </a:r>
            <a:pPr algn="l"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предварительная оценка после пилота
</a:t>
            </a:r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 веб-сервиса для одного города: аренда облачного сервера и резервных копий, техническая поддержка (8–16 ч в месяц) и проверка качества данных (4–8 ч в месяц) до налогов и платных тарифов.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5724144"/>
            <a:ext cx="11274552" cy="493776"/>
          </a:xfrm>
          <a:prstGeom prst="roundRect">
            <a:avLst>
              <a:gd name="adj" fmla="val 7407"/>
            </a:avLst>
          </a:prstGeom>
          <a:solidFill>
            <a:srgbClr val="15362A"/>
          </a:solidFill>
          <a:ln w="12700">
            <a:solidFill>
              <a:srgbClr val="1536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" y="5769864"/>
            <a:ext cx="10954512" cy="4023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Важно: эти три суммы НЕ складываются напрямую, так как смета посадок уже включает базовые расходы на датчики (0,6 млн ₸) и поддержку программы (1,2 млн ₸/год).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E7EFE0"/>
          </a:solidFill>
          <a:ln w="9525">
            <a:solidFill>
              <a:srgbClr val="BDCCB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10" kern="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 ПИЛОТА, ПОЛЕВАЯ ПРОВЕРКА ЭФФЕКТА И СЛЕДУЮЩИЙ ШАГ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 пилота на 4 участках: от сверки датчиков до сезонных замеров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09 / 09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280160"/>
            <a:ext cx="6967728" cy="2816352"/>
          </a:xfrm>
          <a:prstGeom prst="roundRect">
            <a:avLst>
              <a:gd name="adj" fmla="val 1299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280160"/>
            <a:ext cx="6967728" cy="384048"/>
          </a:xfrm>
          <a:prstGeom prst="roundRect">
            <a:avLst>
              <a:gd name="adj" fmla="val 714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" y="1316736"/>
            <a:ext cx="6675120" cy="3108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 1 · 6 НЕДЕЛЬ · ПРОВЕРКА ДАННЫХ И УДОБСТВА РАБОТЫ (2 УЧАСТКА ПОСАДКИ + 2 КОНТРОЛЯ)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21792" y="1810512"/>
            <a:ext cx="128016" cy="530352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1755648"/>
            <a:ext cx="6419088" cy="67665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Недели 1–2 · Встречи и сверка приборов
</a:t>
            </a:r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3–5 рабочих встреч со специалистами озеленения, выбор 2 пар похожих участков в Астане и сверка недорогих датчиков пыли рядом с постом Казгидромета.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" y="2560320"/>
            <a:ext cx="128016" cy="530352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" y="2505456"/>
            <a:ext cx="6419088" cy="67665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Недели 3–5 · Замеры на улицах
</a:t>
            </a:r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Непрерывная запись пыли PM2.5 и замеры нагрева покрытий в одни и те же часы, уточнение числа мест под лунки и реальных цен местных питомников.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" y="3310128"/>
            <a:ext cx="128016" cy="530352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" y="3255264"/>
            <a:ext cx="6419088" cy="67665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Неделя 6 · Проверка точности и удобства
</a:t>
            </a:r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Сравнение прогноза программы с реальными уличными замерами, тестовый подбор участков вместе со специалистами и итоговый отчёт по пилоту.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242816"/>
            <a:ext cx="6967728" cy="1975104"/>
          </a:xfrm>
          <a:prstGeom prst="roundRect">
            <a:avLst>
              <a:gd name="adj" fmla="val 1852"/>
            </a:avLst>
          </a:prstGeom>
          <a:solidFill>
            <a:srgbClr val="F5EBDC"/>
          </a:solidFill>
          <a:ln w="9525">
            <a:solidFill>
              <a:srgbClr val="DEC49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4242816"/>
            <a:ext cx="6967728" cy="384048"/>
          </a:xfrm>
          <a:prstGeom prst="roundRect">
            <a:avLst>
              <a:gd name="adj" fmla="val 7143"/>
            </a:avLst>
          </a:prstGeom>
          <a:solidFill>
            <a:srgbClr val="936930"/>
          </a:solidFill>
          <a:ln w="12700">
            <a:solidFill>
              <a:srgbClr val="93693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" y="4279392"/>
            <a:ext cx="6675120" cy="3108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 2 · ПОЛНЫЙ ТЁПЛЫЙ СЕЗОН · ПРОВЕРКА РЕАЛЬНОГО ЭФФЕКТА ПОСАЖЕННЫХ ДЕРЕВЬЕВ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621792" y="4700016"/>
            <a:ext cx="6656832" cy="144475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2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 шесть недель пользу живых деревьев доказать нельзя, нужен полный летний сезон с агрономом:
</a:t>
            </a:r>
            <a:pPr algn="l" indent="0" marL="0">
              <a:lnSpc>
                <a:spcPct val="107000"/>
              </a:lnSpc>
              <a:buNone/>
            </a:pPr>
            <a:r>
              <a:rPr lang="en-US" sz="97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Подсчёт реально прижившихся саженцев по породам и замер прироста кроны.</a:t>
            </a:r>
            <a:endParaRPr lang="en-US" sz="11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97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Сравнение пыли PM2.5 и нагрева поверхности «до и после» относительно двух соседних контрольных улиц с учётом ветра и погоды.</a:t>
            </a:r>
            <a:endParaRPr lang="en-US" sz="11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97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Точная настройка формул расчёта в приложении по полевым данным Астаны.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635240" y="1280160"/>
            <a:ext cx="4096512" cy="4937760"/>
          </a:xfrm>
          <a:prstGeom prst="roundRect">
            <a:avLst>
              <a:gd name="adj" fmla="val 1116"/>
            </a:avLst>
          </a:prstGeom>
          <a:solidFill>
            <a:srgbClr val="15362A"/>
          </a:solidFill>
          <a:ln w="12700">
            <a:solidFill>
              <a:srgbClr val="1536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0" y="1463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b="1" spc="110" kern="0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УЖЕ ГОТОВО СЕЙЧАС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>
            <a:off x="7863840" y="1755648"/>
            <a:ext cx="3657600" cy="184708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9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Карта 40 участков Астаны и живое обновление погоды и воздуха</a:t>
            </a:r>
            <a:endParaRPr lang="en-US" sz="99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99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Подбор улиц с учётом лимита мест и расчётом сметы в тенге</a:t>
            </a:r>
            <a:endParaRPr lang="en-US" sz="99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99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Честный прогноз на 3 часа с понятными подсказками факторов</a:t>
            </a:r>
            <a:endParaRPr lang="en-US" sz="99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99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Архив планов на 30 дней, сравнение вариантов и печатный PDF</a:t>
            </a:r>
            <a:endParaRPr lang="en-US" sz="99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99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Интерфейс на 3 языках (RU / ҚАЗ / EN) и 79 автотестов</a:t>
            </a:r>
            <a:endParaRPr lang="en-US" sz="990" dirty="0"/>
          </a:p>
        </p:txBody>
      </p:sp>
      <p:sp>
        <p:nvSpPr>
          <p:cNvPr id="26" name="Shape 23"/>
          <p:cNvSpPr/>
          <p:nvPr/>
        </p:nvSpPr>
        <p:spPr>
          <a:xfrm>
            <a:off x="7863840" y="3730752"/>
            <a:ext cx="3657600" cy="0"/>
          </a:xfrm>
          <a:prstGeom prst="line">
            <a:avLst/>
          </a:prstGeom>
          <a:noFill/>
          <a:ln w="11430">
            <a:solidFill>
              <a:srgbClr val="35685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0" y="38770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b="1" spc="110" kern="0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СЛЕДУЮЩИЙ ШАГ ДЛЯ СТАРТА ПИЛОТА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7863840" y="4169664"/>
            <a:ext cx="3657600" cy="181051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60" b="1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нужно для запуска Этапа 1:
</a:t>
            </a:r>
            <a:pPr algn="l" indent="0" marL="0">
              <a:lnSpc>
                <a:spcPct val="112000"/>
              </a:lnSpc>
              <a:buNone/>
            </a:pPr>
            <a:r>
              <a:rPr lang="en-US" sz="99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Согласовать 4 пилотных участка со службой озеленения Астаны.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9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Получить архивные данные городских постов для настройки прогноза.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90" dirty="0">
                <a:solidFill>
                  <a:srgbClr val="C2D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Поддержать бюджет 6-недельной проверки: 1,13–2,71 млн ₸ (предварительная оценка).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F5EBDC"/>
          </a:solidFill>
          <a:ln w="9525">
            <a:solidFill>
              <a:srgbClr val="DEC49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10" kern="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МЕТОДИКА РАСЧЁТА ЭКОЛОГИЧЕСКОГО ЭФФЕКТА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464040" y="219456"/>
            <a:ext cx="2267712" cy="219456"/>
          </a:xfrm>
          <a:prstGeom prst="rect">
            <a:avLst/>
          </a:prstGeom>
          <a:solidFill>
            <a:srgbClr val="F5EBDC"/>
          </a:solidFill>
          <a:ln w="9525">
            <a:solidFill>
              <a:srgbClr val="DEC49E"/>
            </a:solidFill>
          </a:ln>
        </p:spPr>
        <p:txBody>
          <a:bodyPr wrap="square" lIns="12700" tIns="50800" rIns="508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· СПРАВОЧНО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приложение считает эффект посадок и какие породы заложены</a:t>
            </a:r>
            <a:endParaRPr lang="en-US" sz="215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Приложение A1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298448"/>
            <a:ext cx="5440680" cy="4901184"/>
          </a:xfrm>
          <a:prstGeom prst="roundRect">
            <a:avLst>
              <a:gd name="adj" fmla="val 746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408176"/>
            <a:ext cx="5074920" cy="46817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Четыре правила расчёта на каждом участке
</a:t>
            </a:r>
            <a:pPr algn="l"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Живые деревья и раскрытие кроны (полный размер к 10 годам):
</a:t>
            </a:r>
            <a:pPr algn="l"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Учитывается процент приживаемости породы и постепенный рост площади кроны по годам: число живых деревьев умножается на площадь взрослой кроны и долю роста.
</a:t>
            </a:r>
            <a:pPr algn="l"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Оседание мелкой пыли PM2.5 на листве и хвое:
</a:t>
            </a:r>
            <a:pPr algn="l"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Рассчитывается в приземном слое воздуха высотой 20 м с учётом густоты листвы, скорости ветра и текущей запылённости. Снижение на одном участке ограничено разумным потолком 18%.
</a:t>
            </a:r>
            <a:pPr algn="l"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Сезонное охлаждение поверхности за счёт тени:
</a:t>
            </a:r>
            <a:pPr algn="l"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Включается только при воздухе от +10 °C и выходит на полную силу к +25 °C пропорционально новой площади кроны и нехватке зелени.
</a:t>
            </a:r>
            <a:pPr algn="l"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Очерёдность выбора улиц и диапазон оценки:
</a:t>
            </a:r>
            <a:pPr algn="l"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Учитывает прогноз пыли, общий индекс нагрузки, жару выше +25 °C, дефицит зелени, число жителей рядом и соседние зоны (бонус до +6%). Диапазон ±50% показывает возможный разброс до полевых замеров.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08192" y="1298448"/>
          <a:ext cx="5623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77240"/>
                <a:gridCol w="594360"/>
                <a:gridCol w="777240"/>
                <a:gridCol w="822960"/>
                <a:gridCol w="8229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Порода дерева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Крона, м²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Листва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Пыль, м/с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Прижив.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CO₂, кг/год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Вяз · основной пример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25,0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3,0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0,0020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85%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22,0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Сосна · хвоя круглый год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16,0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3,8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0,0040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80%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18,0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Тополь · быстрый рост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22,0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3,2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0,0022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80%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28,0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108192" y="3328416"/>
            <a:ext cx="5623560" cy="2871216"/>
          </a:xfrm>
          <a:prstGeom prst="roundRect">
            <a:avLst>
              <a:gd name="adj" fmla="val 1274"/>
            </a:avLst>
          </a:prstGeom>
          <a:solidFill>
            <a:srgbClr val="F5EBDC"/>
          </a:solidFill>
          <a:ln w="9525">
            <a:solidFill>
              <a:srgbClr val="DEC49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91072" y="3456432"/>
            <a:ext cx="5257800" cy="261518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6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Проверка устойчивости отбора улиц (±20% к весам)
</a:t>
            </a:r>
            <a:pPr algn="l" indent="0" marL="0">
              <a:lnSpc>
                <a:spcPct val="109000"/>
              </a:lnSpc>
              <a:buNone/>
            </a:pPr>
            <a:r>
              <a:rPr lang="en-US" sz="99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Мы проверили, как меняется список приоритетных участков, если сдвинуть каждый вес формулы на −20% и +20% (важность пыли, общей нагрузки, летней жары и связности соседних зон):</a:t>
            </a:r>
            <a:endParaRPr lang="en-US" sz="1100" dirty="0"/>
          </a:p>
          <a:p>
            <a:pPr algn="l" indent="0" marL="0">
              <a:lnSpc>
                <a:spcPct val="109000"/>
              </a:lnSpc>
              <a:buNone/>
            </a:pPr>
            <a:endParaRPr lang="en-US" sz="11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9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Первая десятка самых нагруженных дорожных коридоров остаётся стабильной: местами меняются только соседние проспекты с близким потоком машин.</a:t>
            </a:r>
            <a:endParaRPr lang="en-US" sz="11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9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Стартовые характеристики пород взяты как справочные ориентиры и будут уточнены вместе с местным агрономом на пилоте в Астане.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F5EBDC"/>
          </a:solidFill>
          <a:ln w="9525">
            <a:solidFill>
              <a:srgbClr val="DEC49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10" kern="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ТЕХНИЧЕСКОЕ УСТРОЙСТВО И РАБОТА С ОГРАНИЧЕНИЯМИ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464040" y="219456"/>
            <a:ext cx="2267712" cy="219456"/>
          </a:xfrm>
          <a:prstGeom prst="rect">
            <a:avLst/>
          </a:prstGeom>
          <a:solidFill>
            <a:srgbClr val="F5EBDC"/>
          </a:solidFill>
          <a:ln w="9525">
            <a:solidFill>
              <a:srgbClr val="DEC49E"/>
            </a:solidFill>
          </a:ln>
        </p:spPr>
        <p:txBody>
          <a:bodyPr wrap="square" lIns="12700" tIns="50800" rIns="508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· СПРАВОЧНО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Устройство веб-приложения и честная таблица ограничений</a:t>
            </a:r>
            <a:endParaRPr lang="en-US" sz="215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Приложение A2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3630168" cy="1051560"/>
          </a:xfrm>
          <a:prstGeom prst="roundRect">
            <a:avLst>
              <a:gd name="adj" fmla="val 3478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1344168"/>
            <a:ext cx="3410712" cy="9144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ПОГОДА И ФОН ВОЗДУХА
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Открытые службы Open-Meteo и CAMS (ячейка около 45 км). Опрос каждые 5 минут и 3 режима работы: живые данные, кэш и автономный режим без сети.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79392" y="1280160"/>
            <a:ext cx="3630168" cy="1051560"/>
          </a:xfrm>
          <a:prstGeom prst="roundRect">
            <a:avLst>
              <a:gd name="adj" fmla="val 3478"/>
            </a:avLst>
          </a:prstGeom>
          <a:solidFill>
            <a:srgbClr val="15362A"/>
          </a:solidFill>
          <a:ln w="9525">
            <a:solidFill>
              <a:srgbClr val="1536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0" y="1344168"/>
            <a:ext cx="3410712" cy="9144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СЕРВЕР И БАЗА ДАННЫХ
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Быстрый сервер на Python (FastAPI), обновление 40 участков каждые 2 секунды и надёжная запись планов в локальную базу без потерь при перезапуске.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01584" y="1280160"/>
            <a:ext cx="3630168" cy="1051560"/>
          </a:xfrm>
          <a:prstGeom prst="roundRect">
            <a:avLst>
              <a:gd name="adj" fmla="val 3478"/>
            </a:avLst>
          </a:prstGeom>
          <a:solidFill>
            <a:srgbClr val="EFF4EA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11312" y="1344168"/>
            <a:ext cx="3410712" cy="9144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ИНТЕРФЕЙС И ОТЧЁТНОСТЬ
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Интерактивная карта на OpenStreetMap, наглядные графики, три языка (RU / ҚАЗ / EN) и встроенная страница чистого печатного отчёта А4.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05456"/>
          <a:ext cx="11274552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3913632"/>
                <a:gridCol w="4206240"/>
              </a:tblGrid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Ограничение текущей версии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Как это честно показано в приложении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Как решается на этапе пилота в Астане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участков на карте являются расчётными зонами, а не физическими станциями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Прямое пояснение под картой, в карточке каждого участка и в печатном отчёте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Установка 4 проверенных датчиков PM2.5 (2 участка посадки + 2 контрольных) и сверка с постом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Модели прогноза обучались и проверялись на модельных рядах данных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Для пыли PM2.5 основным выбран простой прогноз (ошибка 1,94), а ML оставлен для сравнения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Переобучение и проверка на архивных данных постов Астаны и 6-недельных уличных замерах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Параметры пород деревьев и цены в смете являются ориентировочными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Все расценки в тенге открыты для ручной замены, а эффект показан с диапазоном ±50%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Подстановка реальных цен местных питомников и сезонный учёт приживаемости с агрономом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Программа не видит подземные трубы, кабели и точные границы лунок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 отчёте прямо указано, что расчёт предварительный и не заменяет осмотр на месте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Выездная проверка инженерных сетей и почвы специалистами перед утверждением посадки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19456"/>
            <a:ext cx="475488" cy="219456"/>
          </a:xfrm>
          <a:prstGeom prst="rect">
            <a:avLst/>
          </a:prstGeom>
          <a:solidFill>
            <a:srgbClr val="F5EBDC"/>
          </a:solidFill>
          <a:ln w="9525">
            <a:solidFill>
              <a:srgbClr val="DEC49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24128" y="219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10" kern="0" dirty="0">
                <a:solidFill>
                  <a:srgbClr val="52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СООТВЕТСТВИЕ РЕГЛАМЕНТУ GREENHACK KAZAKHSTAN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464040" y="219456"/>
            <a:ext cx="2267712" cy="219456"/>
          </a:xfrm>
          <a:prstGeom prst="rect">
            <a:avLst/>
          </a:prstGeom>
          <a:solidFill>
            <a:srgbClr val="F5EBDC"/>
          </a:solidFill>
          <a:ln w="9525">
            <a:solidFill>
              <a:srgbClr val="DEC49E"/>
            </a:solidFill>
          </a:ln>
        </p:spPr>
        <p:txBody>
          <a:bodyPr wrap="square" lIns="12700" tIns="50800" rIns="50800" bIns="127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9369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· СПРАВОЧНО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5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Критерии конкурса (100 баллов), открытые данные и роль ИИ</a:t>
            </a:r>
            <a:endParaRPr lang="en-US" sz="215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0795">
            <a:solidFill>
              <a:srgbClr val="BDCCB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CFDA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0" y="6428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4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 · Приложение A3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644652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621792"/>
                <a:gridCol w="2944368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Критерий оценки (п. 8.1 Положения)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Балл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3F6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Где раскрыто в презентации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 Обоснование экологической проблемы и потребности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Слайд 2 (посты Казгидромета, статистика выбросов, задачи озеленителей)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 Технологическое решение (ИИ + инженерия)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Слайды 3, 6, A2 (цепочка расчёта, прогноз +3 ч, подсказки факторов, лимит мест)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 Новизна и отличия от аналогов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Слайд 7 (честное сравнение с картами Казгидромета и программами i-Tree)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 Стартап-модель и реализуемость (приоритет №2 при равенстве)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Слайды 5, 8, 9 (пользователи, плательщики, 3 отдельных бюджета, план пилота)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 Экологический результат (приоритет №1 при равенстве)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Слайды 4, 6, 9, A1 (единый расчёт 1 000 вязов, баланс эффектов, полевая сверка)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 Представление и аргументация проекта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83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Связная история слайдов 1–9, речь на 2:45 (под лимит видео 3:00) и реестр данных</a:t>
                      </a:r>
                      <a:endParaRPr lang="en-US" sz="9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7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086600" y="1298448"/>
            <a:ext cx="4645152" cy="2084832"/>
          </a:xfrm>
          <a:prstGeom prst="roundRect">
            <a:avLst>
              <a:gd name="adj" fmla="val 1754"/>
            </a:avLst>
          </a:prstGeom>
          <a:solidFill>
            <a:srgbClr val="FBFBF7"/>
          </a:solidFill>
          <a:ln w="9525">
            <a:solidFill>
              <a:srgbClr val="BDCCB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242048" y="1408176"/>
            <a:ext cx="4334256" cy="18653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40" b="1" dirty="0">
                <a:solidFill>
                  <a:srgbClr val="1228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Открытые данные и соблюдение лицензий
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Погода и фоновый состав воздуха: Open-Meteo и европейская служба мониторинга атмосферы CAMS (лицензия CC BY 4.0).</a:t>
            </a:r>
            <a:endParaRPr lang="en-US" sz="11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Картографическая основа и ориентиры улиц: участники проекта OpenStreetMap (лицензия ODbL).</a:t>
            </a:r>
            <a:endParaRPr lang="en-US" sz="11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283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Физические модели оседания пыли и тени деревьев: публикации Лесной службы США (i-Tree) и Агентства охраны окружающей среды США.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086600" y="3547872"/>
            <a:ext cx="4645152" cy="2633472"/>
          </a:xfrm>
          <a:prstGeom prst="roundRect">
            <a:avLst>
              <a:gd name="adj" fmla="val 1389"/>
            </a:avLst>
          </a:prstGeom>
          <a:solidFill>
            <a:srgbClr val="15362A"/>
          </a:solidFill>
          <a:ln w="12700">
            <a:solidFill>
              <a:srgbClr val="15362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86600" y="3547872"/>
            <a:ext cx="82296" cy="2633472"/>
          </a:xfrm>
          <a:prstGeom prst="rect">
            <a:avLst/>
          </a:prstGeom>
          <a:solidFill>
            <a:srgbClr val="B98B4D"/>
          </a:solidFill>
          <a:ln w="12700">
            <a:solidFill>
              <a:srgbClr val="B98B4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278624" y="3639312"/>
            <a:ext cx="4297680" cy="24505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20" b="1" dirty="0">
                <a:solidFill>
                  <a:srgbClr val="B98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Раскрытие роли ИИ (п. 5.6 и п. 9.1–9.2 Положения)
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В самом приложении ASTRA: локальные модели машинного обучения рассчитывают прогноз индекса нагрузки на 3 часа и показывают вклад отдельных факторов.</a:t>
            </a:r>
            <a:endParaRPr lang="en-US" sz="11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При сборке презентации: ИИ-помощник использовался для написания скрипта вёрстки слайдов, проверки отступов и редактуры текста выступления.</a:t>
            </a:r>
            <a:endParaRPr lang="en-US" sz="11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F3F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Все числа проверены по расчётам программы и официальной статистике; ответственность за точность несёт команда.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GreenHack Kazakhstan 2026 Submission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ASTRA: выбор участков и расчёт плана городского озеленения</dc:title>
  <dc:subject>Предварительный отбор GreenHack Kazakhstan 2026: ASTRA</dc:subject>
  <dc:creator>ASTRA Project</dc:creator>
  <cp:lastModifiedBy>ASTRA Project</cp:lastModifiedBy>
  <cp:revision>1</cp:revision>
  <dcterms:created xsi:type="dcterms:W3CDTF">2026-10-25T17:55:40Z</dcterms:created>
  <dcterms:modified xsi:type="dcterms:W3CDTF">2026-10-25T17:55:40Z</dcterms:modified>
</cp:coreProperties>
</file>